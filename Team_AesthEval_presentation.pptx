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256" r:id="rId5"/>
    <p:sldId id="268" r:id="rId6"/>
    <p:sldId id="269" r:id="rId7"/>
    <p:sldId id="270" r:id="rId8"/>
    <p:sldId id="271" r:id="rId9"/>
    <p:sldId id="279" r:id="rId10"/>
    <p:sldId id="272" r:id="rId11"/>
    <p:sldId id="273" r:id="rId12"/>
    <p:sldId id="274" r:id="rId13"/>
    <p:sldId id="275" r:id="rId14"/>
    <p:sldId id="278" r:id="rId15"/>
    <p:sldId id="276" r:id="rId16"/>
    <p:sldId id="27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50"/>
    <a:srgbClr val="151513"/>
    <a:srgbClr val="191313"/>
    <a:srgbClr val="FFE14D"/>
    <a:srgbClr val="2727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EA43BA-2620-A967-F8F4-8D92366D50E0}" v="10" dt="2025-11-05T17:01:35.850"/>
    <p1510:client id="{0ECB091A-1A03-A292-9407-A78914BD40E2}" v="498" dt="2025-11-05T17:48:05.276"/>
    <p1510:client id="{14E02E2C-4D37-B45C-6EF5-FD0F22F59DB9}" v="7" dt="2025-11-05T13:45:01.899"/>
    <p1510:client id="{2869066F-F2E5-7365-2B09-603851A2F0C9}" v="90" dt="2025-11-05T18:37:09.886"/>
    <p1510:client id="{4029A788-837C-2DE4-1E40-202F92B84C2C}" v="176" dt="2025-11-05T19:16:33.819"/>
    <p1510:client id="{45883A93-AAB4-4F49-F911-5B9CEE6EEAFB}" v="10" dt="2025-11-05T15:44:26.992"/>
    <p1510:client id="{69379C0E-720D-0D7E-2A4C-C05C5CEECFD1}" v="210" dt="2025-11-05T18:32:44.125"/>
    <p1510:client id="{714C7581-B98D-461A-93A0-5438A8320E3B}" v="2" dt="2025-11-05T09:16:25.343"/>
    <p1510:client id="{A472F657-B20E-6685-44F7-4BE6145A6ABA}" v="166" dt="2025-11-06T04:12:51.490"/>
    <p1510:client id="{A77488CA-69E8-8BAE-996E-42DC04EA5390}" v="63" dt="2025-11-05T18:13:12.073"/>
    <p1510:client id="{AFD701F3-8C09-CEDB-8ACF-056EE296EB36}" v="125" dt="2025-11-05T18:50:53.487"/>
    <p1510:client id="{B01CDDE3-A7DC-0B16-9859-C1FD6D527230}" v="906" dt="2025-11-05T21:02:08.424"/>
    <p1510:client id="{DC569FEC-5902-2570-3899-E06B76C01D25}" v="307" dt="2025-11-05T19:06:36.410"/>
    <p1510:client id="{E57B44DA-E3B7-A8FC-FCC8-D9E69F1FFB99}" v="174" dt="2025-11-06T04:10:48.631"/>
    <p1510:client id="{F9A268E7-E693-6813-F4EB-1C3BB9193A91}" v="740" dt="2025-11-05T15:04:02.8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BBDD8D-F80F-4561-9540-5028CB185152}"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59CA36-79BD-44CF-A6C7-35D9A5866118}" type="slidenum">
              <a:rPr lang="en-US" smtClean="0"/>
              <a:t>‹#›</a:t>
            </a:fld>
            <a:endParaRPr lang="en-US"/>
          </a:p>
        </p:txBody>
      </p:sp>
    </p:spTree>
    <p:extLst>
      <p:ext uri="{BB962C8B-B14F-4D97-AF65-F5344CB8AC3E}">
        <p14:creationId xmlns:p14="http://schemas.microsoft.com/office/powerpoint/2010/main" val="3258256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FF23C-1869-9F0A-F553-052CB0152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C3EC1-AD6C-4D99-0799-B553D6F8A7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5B406-AB30-99CE-4CA9-683B056619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D5E785E-0DF5-80AC-38B5-3720E72E7BC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043621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69069-3A46-CCE9-6B8C-B563295B77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0DB5F3-7A36-A60F-04D0-BE691B5A1D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79AF74-EC72-D33F-04A0-C20EE0B2343A}"/>
              </a:ext>
            </a:extLst>
          </p:cNvPr>
          <p:cNvSpPr>
            <a:spLocks noGrp="1"/>
          </p:cNvSpPr>
          <p:nvPr>
            <p:ph type="dt" sz="half" idx="10"/>
          </p:nvPr>
        </p:nvSpPr>
        <p:spPr/>
        <p:txBody>
          <a:bodyPr/>
          <a:lstStyle/>
          <a:p>
            <a:fld id="{B5E632A8-3CA0-489C-8E45-B6DC9A937138}" type="datetimeFigureOut">
              <a:rPr lang="en-US" smtClean="0"/>
              <a:t>11/5/2025</a:t>
            </a:fld>
            <a:endParaRPr lang="en-US"/>
          </a:p>
        </p:txBody>
      </p:sp>
      <p:sp>
        <p:nvSpPr>
          <p:cNvPr id="5" name="Footer Placeholder 4">
            <a:extLst>
              <a:ext uri="{FF2B5EF4-FFF2-40B4-BE49-F238E27FC236}">
                <a16:creationId xmlns:a16="http://schemas.microsoft.com/office/drawing/2014/main" id="{2F86DC74-D0E5-9443-1087-B55A467FEC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3A3137-BCC0-2FFF-CFBD-362EA6B6701D}"/>
              </a:ext>
            </a:extLst>
          </p:cNvPr>
          <p:cNvSpPr>
            <a:spLocks noGrp="1"/>
          </p:cNvSpPr>
          <p:nvPr>
            <p:ph type="sldNum" sz="quarter" idx="12"/>
          </p:nvPr>
        </p:nvSpPr>
        <p:spPr/>
        <p:txBody>
          <a:bodyPr/>
          <a:lstStyle/>
          <a:p>
            <a:fld id="{F7AB9730-DC26-4BA3-AFD5-939EBD5A8577}" type="slidenum">
              <a:rPr lang="en-US" smtClean="0"/>
              <a:t>‹#›</a:t>
            </a:fld>
            <a:endParaRPr lang="en-US"/>
          </a:p>
        </p:txBody>
      </p:sp>
    </p:spTree>
    <p:extLst>
      <p:ext uri="{BB962C8B-B14F-4D97-AF65-F5344CB8AC3E}">
        <p14:creationId xmlns:p14="http://schemas.microsoft.com/office/powerpoint/2010/main" val="1043618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CF2BF-59EE-CB60-6A1A-549EC5D558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EC460C-4AA0-A4E5-3AD2-D613568407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CD0345-FD71-419C-FCB4-30C83E76BC8D}"/>
              </a:ext>
            </a:extLst>
          </p:cNvPr>
          <p:cNvSpPr>
            <a:spLocks noGrp="1"/>
          </p:cNvSpPr>
          <p:nvPr>
            <p:ph type="dt" sz="half" idx="10"/>
          </p:nvPr>
        </p:nvSpPr>
        <p:spPr/>
        <p:txBody>
          <a:bodyPr/>
          <a:lstStyle/>
          <a:p>
            <a:fld id="{B5E632A8-3CA0-489C-8E45-B6DC9A937138}" type="datetimeFigureOut">
              <a:rPr lang="en-US" smtClean="0"/>
              <a:t>11/5/2025</a:t>
            </a:fld>
            <a:endParaRPr lang="en-US"/>
          </a:p>
        </p:txBody>
      </p:sp>
      <p:sp>
        <p:nvSpPr>
          <p:cNvPr id="5" name="Footer Placeholder 4">
            <a:extLst>
              <a:ext uri="{FF2B5EF4-FFF2-40B4-BE49-F238E27FC236}">
                <a16:creationId xmlns:a16="http://schemas.microsoft.com/office/drawing/2014/main" id="{E4790F8B-7497-A61D-D54E-1C172863FB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7BA269-B8CF-18E6-80CC-C2125908EC1D}"/>
              </a:ext>
            </a:extLst>
          </p:cNvPr>
          <p:cNvSpPr>
            <a:spLocks noGrp="1"/>
          </p:cNvSpPr>
          <p:nvPr>
            <p:ph type="sldNum" sz="quarter" idx="12"/>
          </p:nvPr>
        </p:nvSpPr>
        <p:spPr/>
        <p:txBody>
          <a:bodyPr/>
          <a:lstStyle/>
          <a:p>
            <a:fld id="{F7AB9730-DC26-4BA3-AFD5-939EBD5A8577}" type="slidenum">
              <a:rPr lang="en-US" smtClean="0"/>
              <a:t>‹#›</a:t>
            </a:fld>
            <a:endParaRPr lang="en-US"/>
          </a:p>
        </p:txBody>
      </p:sp>
    </p:spTree>
    <p:extLst>
      <p:ext uri="{BB962C8B-B14F-4D97-AF65-F5344CB8AC3E}">
        <p14:creationId xmlns:p14="http://schemas.microsoft.com/office/powerpoint/2010/main" val="3373598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1D32F-A800-0A0B-7ACF-AAC5142E06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C0F433-574B-5311-A699-AC0BC52FA68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00C1A6-39FB-6A51-979F-C6E6BD3A3759}"/>
              </a:ext>
            </a:extLst>
          </p:cNvPr>
          <p:cNvSpPr>
            <a:spLocks noGrp="1"/>
          </p:cNvSpPr>
          <p:nvPr>
            <p:ph type="dt" sz="half" idx="10"/>
          </p:nvPr>
        </p:nvSpPr>
        <p:spPr/>
        <p:txBody>
          <a:bodyPr/>
          <a:lstStyle/>
          <a:p>
            <a:fld id="{B5E632A8-3CA0-489C-8E45-B6DC9A937138}" type="datetimeFigureOut">
              <a:rPr lang="en-US" smtClean="0"/>
              <a:t>11/5/2025</a:t>
            </a:fld>
            <a:endParaRPr lang="en-US"/>
          </a:p>
        </p:txBody>
      </p:sp>
      <p:sp>
        <p:nvSpPr>
          <p:cNvPr id="5" name="Footer Placeholder 4">
            <a:extLst>
              <a:ext uri="{FF2B5EF4-FFF2-40B4-BE49-F238E27FC236}">
                <a16:creationId xmlns:a16="http://schemas.microsoft.com/office/drawing/2014/main" id="{3B51DD7C-8CEA-D47F-61C6-0E41994DED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9726B2-E850-7EDE-0EFE-D28ECF84B98A}"/>
              </a:ext>
            </a:extLst>
          </p:cNvPr>
          <p:cNvSpPr>
            <a:spLocks noGrp="1"/>
          </p:cNvSpPr>
          <p:nvPr>
            <p:ph type="sldNum" sz="quarter" idx="12"/>
          </p:nvPr>
        </p:nvSpPr>
        <p:spPr/>
        <p:txBody>
          <a:bodyPr/>
          <a:lstStyle/>
          <a:p>
            <a:fld id="{F7AB9730-DC26-4BA3-AFD5-939EBD5A8577}" type="slidenum">
              <a:rPr lang="en-US" smtClean="0"/>
              <a:t>‹#›</a:t>
            </a:fld>
            <a:endParaRPr lang="en-US"/>
          </a:p>
        </p:txBody>
      </p:sp>
    </p:spTree>
    <p:extLst>
      <p:ext uri="{BB962C8B-B14F-4D97-AF65-F5344CB8AC3E}">
        <p14:creationId xmlns:p14="http://schemas.microsoft.com/office/powerpoint/2010/main" val="2686011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676BC-84B2-1EC4-867D-AE00DE67F2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076BE0-A562-2FAB-4E16-A2A31691D6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C26A69-0966-58CA-C859-8A605AE7C7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704F8B-E54F-A219-9D8B-9D5EF2FFE750}"/>
              </a:ext>
            </a:extLst>
          </p:cNvPr>
          <p:cNvSpPr>
            <a:spLocks noGrp="1"/>
          </p:cNvSpPr>
          <p:nvPr>
            <p:ph type="dt" sz="half" idx="10"/>
          </p:nvPr>
        </p:nvSpPr>
        <p:spPr/>
        <p:txBody>
          <a:bodyPr/>
          <a:lstStyle/>
          <a:p>
            <a:fld id="{B5E632A8-3CA0-489C-8E45-B6DC9A937138}" type="datetimeFigureOut">
              <a:rPr lang="en-US" smtClean="0"/>
              <a:t>11/5/2025</a:t>
            </a:fld>
            <a:endParaRPr lang="en-US"/>
          </a:p>
        </p:txBody>
      </p:sp>
      <p:sp>
        <p:nvSpPr>
          <p:cNvPr id="6" name="Footer Placeholder 5">
            <a:extLst>
              <a:ext uri="{FF2B5EF4-FFF2-40B4-BE49-F238E27FC236}">
                <a16:creationId xmlns:a16="http://schemas.microsoft.com/office/drawing/2014/main" id="{236BBF9B-5F6B-A6E9-67FF-2D7E261812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BDD333-F518-23AA-4BF5-4A2FDAF5D1C6}"/>
              </a:ext>
            </a:extLst>
          </p:cNvPr>
          <p:cNvSpPr>
            <a:spLocks noGrp="1"/>
          </p:cNvSpPr>
          <p:nvPr>
            <p:ph type="sldNum" sz="quarter" idx="12"/>
          </p:nvPr>
        </p:nvSpPr>
        <p:spPr/>
        <p:txBody>
          <a:bodyPr/>
          <a:lstStyle/>
          <a:p>
            <a:fld id="{F7AB9730-DC26-4BA3-AFD5-939EBD5A8577}" type="slidenum">
              <a:rPr lang="en-US" smtClean="0"/>
              <a:t>‹#›</a:t>
            </a:fld>
            <a:endParaRPr lang="en-US"/>
          </a:p>
        </p:txBody>
      </p:sp>
    </p:spTree>
    <p:extLst>
      <p:ext uri="{BB962C8B-B14F-4D97-AF65-F5344CB8AC3E}">
        <p14:creationId xmlns:p14="http://schemas.microsoft.com/office/powerpoint/2010/main" val="1816314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54C78-CF66-5CD5-18EE-70D69991B5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4072BE-31BD-30EF-2612-521ECA8778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34A5BC-6BE0-371A-CF47-06F27E1609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00C0E38-8EC3-89E6-9702-2DEA9E0821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795CD1-6969-23CD-DF0C-B0124B6F52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C6D05D-18AE-27DA-F2CE-F1FC6F262541}"/>
              </a:ext>
            </a:extLst>
          </p:cNvPr>
          <p:cNvSpPr>
            <a:spLocks noGrp="1"/>
          </p:cNvSpPr>
          <p:nvPr>
            <p:ph type="dt" sz="half" idx="10"/>
          </p:nvPr>
        </p:nvSpPr>
        <p:spPr/>
        <p:txBody>
          <a:bodyPr/>
          <a:lstStyle/>
          <a:p>
            <a:fld id="{B5E632A8-3CA0-489C-8E45-B6DC9A937138}" type="datetimeFigureOut">
              <a:rPr lang="en-US" smtClean="0"/>
              <a:t>11/5/2025</a:t>
            </a:fld>
            <a:endParaRPr lang="en-US"/>
          </a:p>
        </p:txBody>
      </p:sp>
      <p:sp>
        <p:nvSpPr>
          <p:cNvPr id="8" name="Footer Placeholder 7">
            <a:extLst>
              <a:ext uri="{FF2B5EF4-FFF2-40B4-BE49-F238E27FC236}">
                <a16:creationId xmlns:a16="http://schemas.microsoft.com/office/drawing/2014/main" id="{5EFE72B9-1A2E-D58A-2535-29F46F73E6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EBD877-DDAA-439A-E510-C755CDAA4BF0}"/>
              </a:ext>
            </a:extLst>
          </p:cNvPr>
          <p:cNvSpPr>
            <a:spLocks noGrp="1"/>
          </p:cNvSpPr>
          <p:nvPr>
            <p:ph type="sldNum" sz="quarter" idx="12"/>
          </p:nvPr>
        </p:nvSpPr>
        <p:spPr/>
        <p:txBody>
          <a:bodyPr/>
          <a:lstStyle/>
          <a:p>
            <a:fld id="{F7AB9730-DC26-4BA3-AFD5-939EBD5A8577}" type="slidenum">
              <a:rPr lang="en-US" smtClean="0"/>
              <a:t>‹#›</a:t>
            </a:fld>
            <a:endParaRPr lang="en-US"/>
          </a:p>
        </p:txBody>
      </p:sp>
    </p:spTree>
    <p:extLst>
      <p:ext uri="{BB962C8B-B14F-4D97-AF65-F5344CB8AC3E}">
        <p14:creationId xmlns:p14="http://schemas.microsoft.com/office/powerpoint/2010/main" val="4092849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6E66A-493E-B330-88DC-8E8DAB5C15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ED5AC6-92A9-0884-3DBE-17EF9E3F6255}"/>
              </a:ext>
            </a:extLst>
          </p:cNvPr>
          <p:cNvSpPr>
            <a:spLocks noGrp="1"/>
          </p:cNvSpPr>
          <p:nvPr>
            <p:ph type="dt" sz="half" idx="10"/>
          </p:nvPr>
        </p:nvSpPr>
        <p:spPr/>
        <p:txBody>
          <a:bodyPr/>
          <a:lstStyle/>
          <a:p>
            <a:fld id="{B5E632A8-3CA0-489C-8E45-B6DC9A937138}" type="datetimeFigureOut">
              <a:rPr lang="en-US" smtClean="0"/>
              <a:t>11/5/2025</a:t>
            </a:fld>
            <a:endParaRPr lang="en-US"/>
          </a:p>
        </p:txBody>
      </p:sp>
      <p:sp>
        <p:nvSpPr>
          <p:cNvPr id="4" name="Footer Placeholder 3">
            <a:extLst>
              <a:ext uri="{FF2B5EF4-FFF2-40B4-BE49-F238E27FC236}">
                <a16:creationId xmlns:a16="http://schemas.microsoft.com/office/drawing/2014/main" id="{749A3A2E-66FA-97CC-E5C9-7D6ED2EE72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378AA0-184A-C735-019A-44549B50E29A}"/>
              </a:ext>
            </a:extLst>
          </p:cNvPr>
          <p:cNvSpPr>
            <a:spLocks noGrp="1"/>
          </p:cNvSpPr>
          <p:nvPr>
            <p:ph type="sldNum" sz="quarter" idx="12"/>
          </p:nvPr>
        </p:nvSpPr>
        <p:spPr/>
        <p:txBody>
          <a:bodyPr/>
          <a:lstStyle/>
          <a:p>
            <a:fld id="{F7AB9730-DC26-4BA3-AFD5-939EBD5A8577}" type="slidenum">
              <a:rPr lang="en-US" smtClean="0"/>
              <a:t>‹#›</a:t>
            </a:fld>
            <a:endParaRPr lang="en-US"/>
          </a:p>
        </p:txBody>
      </p:sp>
    </p:spTree>
    <p:extLst>
      <p:ext uri="{BB962C8B-B14F-4D97-AF65-F5344CB8AC3E}">
        <p14:creationId xmlns:p14="http://schemas.microsoft.com/office/powerpoint/2010/main" val="1517455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8DD745-0253-E0D4-85F8-C9752280E3D4}"/>
              </a:ext>
            </a:extLst>
          </p:cNvPr>
          <p:cNvSpPr>
            <a:spLocks noGrp="1"/>
          </p:cNvSpPr>
          <p:nvPr>
            <p:ph type="dt" sz="half" idx="10"/>
          </p:nvPr>
        </p:nvSpPr>
        <p:spPr/>
        <p:txBody>
          <a:bodyPr/>
          <a:lstStyle/>
          <a:p>
            <a:fld id="{B5E632A8-3CA0-489C-8E45-B6DC9A937138}" type="datetimeFigureOut">
              <a:rPr lang="en-US" smtClean="0"/>
              <a:t>11/5/2025</a:t>
            </a:fld>
            <a:endParaRPr lang="en-US"/>
          </a:p>
        </p:txBody>
      </p:sp>
      <p:sp>
        <p:nvSpPr>
          <p:cNvPr id="3" name="Footer Placeholder 2">
            <a:extLst>
              <a:ext uri="{FF2B5EF4-FFF2-40B4-BE49-F238E27FC236}">
                <a16:creationId xmlns:a16="http://schemas.microsoft.com/office/drawing/2014/main" id="{FB6882D8-E999-9951-2245-48F528952C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2BBA19-2488-2E3C-5688-EA09B11CE29B}"/>
              </a:ext>
            </a:extLst>
          </p:cNvPr>
          <p:cNvSpPr>
            <a:spLocks noGrp="1"/>
          </p:cNvSpPr>
          <p:nvPr>
            <p:ph type="sldNum" sz="quarter" idx="12"/>
          </p:nvPr>
        </p:nvSpPr>
        <p:spPr/>
        <p:txBody>
          <a:bodyPr/>
          <a:lstStyle/>
          <a:p>
            <a:fld id="{F7AB9730-DC26-4BA3-AFD5-939EBD5A8577}" type="slidenum">
              <a:rPr lang="en-US" smtClean="0"/>
              <a:t>‹#›</a:t>
            </a:fld>
            <a:endParaRPr lang="en-US"/>
          </a:p>
        </p:txBody>
      </p:sp>
    </p:spTree>
    <p:extLst>
      <p:ext uri="{BB962C8B-B14F-4D97-AF65-F5344CB8AC3E}">
        <p14:creationId xmlns:p14="http://schemas.microsoft.com/office/powerpoint/2010/main" val="1611412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C737C-E85B-1E62-62B1-C98E204977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5E2EEB-C233-DD1C-5882-273741B5F0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12156D-6430-4F0E-B308-506E807272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7AE476-82E2-B437-F60F-BF25CBB1EF94}"/>
              </a:ext>
            </a:extLst>
          </p:cNvPr>
          <p:cNvSpPr>
            <a:spLocks noGrp="1"/>
          </p:cNvSpPr>
          <p:nvPr>
            <p:ph type="dt" sz="half" idx="10"/>
          </p:nvPr>
        </p:nvSpPr>
        <p:spPr/>
        <p:txBody>
          <a:bodyPr/>
          <a:lstStyle/>
          <a:p>
            <a:fld id="{B5E632A8-3CA0-489C-8E45-B6DC9A937138}" type="datetimeFigureOut">
              <a:rPr lang="en-US" smtClean="0"/>
              <a:t>11/5/2025</a:t>
            </a:fld>
            <a:endParaRPr lang="en-US"/>
          </a:p>
        </p:txBody>
      </p:sp>
      <p:sp>
        <p:nvSpPr>
          <p:cNvPr id="6" name="Footer Placeholder 5">
            <a:extLst>
              <a:ext uri="{FF2B5EF4-FFF2-40B4-BE49-F238E27FC236}">
                <a16:creationId xmlns:a16="http://schemas.microsoft.com/office/drawing/2014/main" id="{DC16B815-D09D-B4CB-9D70-275329317F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EFC39A-86B7-9893-1B7D-9AE6BA3E8935}"/>
              </a:ext>
            </a:extLst>
          </p:cNvPr>
          <p:cNvSpPr>
            <a:spLocks noGrp="1"/>
          </p:cNvSpPr>
          <p:nvPr>
            <p:ph type="sldNum" sz="quarter" idx="12"/>
          </p:nvPr>
        </p:nvSpPr>
        <p:spPr/>
        <p:txBody>
          <a:bodyPr/>
          <a:lstStyle/>
          <a:p>
            <a:fld id="{F7AB9730-DC26-4BA3-AFD5-939EBD5A8577}" type="slidenum">
              <a:rPr lang="en-US" smtClean="0"/>
              <a:t>‹#›</a:t>
            </a:fld>
            <a:endParaRPr lang="en-US"/>
          </a:p>
        </p:txBody>
      </p:sp>
    </p:spTree>
    <p:extLst>
      <p:ext uri="{BB962C8B-B14F-4D97-AF65-F5344CB8AC3E}">
        <p14:creationId xmlns:p14="http://schemas.microsoft.com/office/powerpoint/2010/main" val="374718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C1275-B00B-F2C3-4275-219CDF1C19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A19268-1B2D-03B6-BDD3-B08A090901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022439-7D24-3479-BCBB-050627C498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4C5948-4D8D-C50A-C377-F7B709036FEF}"/>
              </a:ext>
            </a:extLst>
          </p:cNvPr>
          <p:cNvSpPr>
            <a:spLocks noGrp="1"/>
          </p:cNvSpPr>
          <p:nvPr>
            <p:ph type="dt" sz="half" idx="10"/>
          </p:nvPr>
        </p:nvSpPr>
        <p:spPr/>
        <p:txBody>
          <a:bodyPr/>
          <a:lstStyle/>
          <a:p>
            <a:fld id="{B5E632A8-3CA0-489C-8E45-B6DC9A937138}" type="datetimeFigureOut">
              <a:rPr lang="en-US" smtClean="0"/>
              <a:t>11/5/2025</a:t>
            </a:fld>
            <a:endParaRPr lang="en-US"/>
          </a:p>
        </p:txBody>
      </p:sp>
      <p:sp>
        <p:nvSpPr>
          <p:cNvPr id="6" name="Footer Placeholder 5">
            <a:extLst>
              <a:ext uri="{FF2B5EF4-FFF2-40B4-BE49-F238E27FC236}">
                <a16:creationId xmlns:a16="http://schemas.microsoft.com/office/drawing/2014/main" id="{63932B0B-AD14-AEA5-8FAA-420EB82CD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2A558F-F996-C40F-43AC-751451FB0C9A}"/>
              </a:ext>
            </a:extLst>
          </p:cNvPr>
          <p:cNvSpPr>
            <a:spLocks noGrp="1"/>
          </p:cNvSpPr>
          <p:nvPr>
            <p:ph type="sldNum" sz="quarter" idx="12"/>
          </p:nvPr>
        </p:nvSpPr>
        <p:spPr/>
        <p:txBody>
          <a:bodyPr/>
          <a:lstStyle/>
          <a:p>
            <a:fld id="{F7AB9730-DC26-4BA3-AFD5-939EBD5A8577}" type="slidenum">
              <a:rPr lang="en-US" smtClean="0"/>
              <a:t>‹#›</a:t>
            </a:fld>
            <a:endParaRPr lang="en-US"/>
          </a:p>
        </p:txBody>
      </p:sp>
    </p:spTree>
    <p:extLst>
      <p:ext uri="{BB962C8B-B14F-4D97-AF65-F5344CB8AC3E}">
        <p14:creationId xmlns:p14="http://schemas.microsoft.com/office/powerpoint/2010/main" val="3976780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2875F-E535-9BB4-E225-F6D7C0A830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919738-3D94-EEA6-F8B4-8FE35E2589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5CD001-131F-2585-6117-8EBBE66A2D43}"/>
              </a:ext>
            </a:extLst>
          </p:cNvPr>
          <p:cNvSpPr>
            <a:spLocks noGrp="1"/>
          </p:cNvSpPr>
          <p:nvPr>
            <p:ph type="dt" sz="half" idx="10"/>
          </p:nvPr>
        </p:nvSpPr>
        <p:spPr/>
        <p:txBody>
          <a:bodyPr/>
          <a:lstStyle/>
          <a:p>
            <a:fld id="{B5E632A8-3CA0-489C-8E45-B6DC9A937138}" type="datetimeFigureOut">
              <a:rPr lang="en-US" smtClean="0"/>
              <a:t>11/5/2025</a:t>
            </a:fld>
            <a:endParaRPr lang="en-US"/>
          </a:p>
        </p:txBody>
      </p:sp>
      <p:sp>
        <p:nvSpPr>
          <p:cNvPr id="5" name="Footer Placeholder 4">
            <a:extLst>
              <a:ext uri="{FF2B5EF4-FFF2-40B4-BE49-F238E27FC236}">
                <a16:creationId xmlns:a16="http://schemas.microsoft.com/office/drawing/2014/main" id="{896C0349-784D-BFDE-1A2C-3E74C76243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78FCBC-D421-55D3-AFBF-8182FAD7B2C4}"/>
              </a:ext>
            </a:extLst>
          </p:cNvPr>
          <p:cNvSpPr>
            <a:spLocks noGrp="1"/>
          </p:cNvSpPr>
          <p:nvPr>
            <p:ph type="sldNum" sz="quarter" idx="12"/>
          </p:nvPr>
        </p:nvSpPr>
        <p:spPr/>
        <p:txBody>
          <a:bodyPr/>
          <a:lstStyle/>
          <a:p>
            <a:fld id="{F7AB9730-DC26-4BA3-AFD5-939EBD5A8577}" type="slidenum">
              <a:rPr lang="en-US" smtClean="0"/>
              <a:t>‹#›</a:t>
            </a:fld>
            <a:endParaRPr lang="en-US"/>
          </a:p>
        </p:txBody>
      </p:sp>
    </p:spTree>
    <p:extLst>
      <p:ext uri="{BB962C8B-B14F-4D97-AF65-F5344CB8AC3E}">
        <p14:creationId xmlns:p14="http://schemas.microsoft.com/office/powerpoint/2010/main" val="2300765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9C7A56-6F0D-5BBF-BC2D-413EBBAD3B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C90AE8-23EF-BC04-9F96-4D303B69BB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6F6D34-1224-737F-F6D3-1FD000F2E960}"/>
              </a:ext>
            </a:extLst>
          </p:cNvPr>
          <p:cNvSpPr>
            <a:spLocks noGrp="1"/>
          </p:cNvSpPr>
          <p:nvPr>
            <p:ph type="dt" sz="half" idx="10"/>
          </p:nvPr>
        </p:nvSpPr>
        <p:spPr/>
        <p:txBody>
          <a:bodyPr/>
          <a:lstStyle/>
          <a:p>
            <a:fld id="{B5E632A8-3CA0-489C-8E45-B6DC9A937138}" type="datetimeFigureOut">
              <a:rPr lang="en-US" smtClean="0"/>
              <a:t>11/5/2025</a:t>
            </a:fld>
            <a:endParaRPr lang="en-US"/>
          </a:p>
        </p:txBody>
      </p:sp>
      <p:sp>
        <p:nvSpPr>
          <p:cNvPr id="5" name="Footer Placeholder 4">
            <a:extLst>
              <a:ext uri="{FF2B5EF4-FFF2-40B4-BE49-F238E27FC236}">
                <a16:creationId xmlns:a16="http://schemas.microsoft.com/office/drawing/2014/main" id="{F33804C5-4D10-65A0-55A2-AA7E5E1475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32FA62-7A96-9091-1823-3949EFB82A63}"/>
              </a:ext>
            </a:extLst>
          </p:cNvPr>
          <p:cNvSpPr>
            <a:spLocks noGrp="1"/>
          </p:cNvSpPr>
          <p:nvPr>
            <p:ph type="sldNum" sz="quarter" idx="12"/>
          </p:nvPr>
        </p:nvSpPr>
        <p:spPr/>
        <p:txBody>
          <a:bodyPr/>
          <a:lstStyle/>
          <a:p>
            <a:fld id="{F7AB9730-DC26-4BA3-AFD5-939EBD5A8577}" type="slidenum">
              <a:rPr lang="en-US" smtClean="0"/>
              <a:t>‹#›</a:t>
            </a:fld>
            <a:endParaRPr lang="en-US"/>
          </a:p>
        </p:txBody>
      </p:sp>
    </p:spTree>
    <p:extLst>
      <p:ext uri="{BB962C8B-B14F-4D97-AF65-F5344CB8AC3E}">
        <p14:creationId xmlns:p14="http://schemas.microsoft.com/office/powerpoint/2010/main" val="1868806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1B1E"/>
          </a:solidFill>
          <a:ln/>
        </p:spPr>
      </p:sp>
      <p:sp>
        <p:nvSpPr>
          <p:cNvPr id="3" name="Shape 1"/>
          <p:cNvSpPr/>
          <p:nvPr/>
        </p:nvSpPr>
        <p:spPr>
          <a:xfrm>
            <a:off x="0" y="0"/>
            <a:ext cx="12192000" cy="68580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953040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1B1E"/>
          </a:solidFill>
          <a:ln/>
        </p:spPr>
      </p:sp>
      <p:sp>
        <p:nvSpPr>
          <p:cNvPr id="3" name="Shape 1"/>
          <p:cNvSpPr/>
          <p:nvPr/>
        </p:nvSpPr>
        <p:spPr>
          <a:xfrm>
            <a:off x="0" y="0"/>
            <a:ext cx="12192000" cy="68580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1210599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1B1E"/>
          </a:solidFill>
          <a:ln/>
        </p:spPr>
      </p:sp>
      <p:sp>
        <p:nvSpPr>
          <p:cNvPr id="3" name="Shape 1"/>
          <p:cNvSpPr/>
          <p:nvPr/>
        </p:nvSpPr>
        <p:spPr>
          <a:xfrm>
            <a:off x="0" y="0"/>
            <a:ext cx="12192000" cy="68580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36508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1B1E"/>
          </a:solidFill>
          <a:ln/>
        </p:spPr>
      </p:sp>
      <p:sp>
        <p:nvSpPr>
          <p:cNvPr id="3" name="Shape 1"/>
          <p:cNvSpPr/>
          <p:nvPr/>
        </p:nvSpPr>
        <p:spPr>
          <a:xfrm>
            <a:off x="0" y="0"/>
            <a:ext cx="12192000" cy="68580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74169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1B1E"/>
          </a:solidFill>
          <a:ln/>
        </p:spPr>
      </p:sp>
      <p:sp>
        <p:nvSpPr>
          <p:cNvPr id="3" name="Shape 1"/>
          <p:cNvSpPr/>
          <p:nvPr/>
        </p:nvSpPr>
        <p:spPr>
          <a:xfrm>
            <a:off x="0" y="0"/>
            <a:ext cx="12192000" cy="68580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1956552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1B1E"/>
          </a:solidFill>
          <a:ln/>
        </p:spPr>
      </p:sp>
      <p:sp>
        <p:nvSpPr>
          <p:cNvPr id="3" name="Shape 1"/>
          <p:cNvSpPr/>
          <p:nvPr/>
        </p:nvSpPr>
        <p:spPr>
          <a:xfrm>
            <a:off x="0" y="0"/>
            <a:ext cx="12192000" cy="68580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0774681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1B1E"/>
          </a:solidFill>
          <a:ln/>
        </p:spPr>
      </p:sp>
      <p:sp>
        <p:nvSpPr>
          <p:cNvPr id="3" name="Shape 1"/>
          <p:cNvSpPr/>
          <p:nvPr/>
        </p:nvSpPr>
        <p:spPr>
          <a:xfrm>
            <a:off x="0" y="0"/>
            <a:ext cx="12192000" cy="68580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17649887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1B1E"/>
          </a:solidFill>
          <a:ln/>
        </p:spPr>
      </p:sp>
      <p:sp>
        <p:nvSpPr>
          <p:cNvPr id="3" name="Shape 1"/>
          <p:cNvSpPr/>
          <p:nvPr/>
        </p:nvSpPr>
        <p:spPr>
          <a:xfrm>
            <a:off x="0" y="0"/>
            <a:ext cx="12192000" cy="68580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7680959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1B1E"/>
          </a:solidFill>
          <a:ln/>
        </p:spPr>
      </p:sp>
      <p:sp>
        <p:nvSpPr>
          <p:cNvPr id="3" name="Shape 1"/>
          <p:cNvSpPr/>
          <p:nvPr/>
        </p:nvSpPr>
        <p:spPr>
          <a:xfrm>
            <a:off x="0" y="0"/>
            <a:ext cx="12192000" cy="68580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4856889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1B1E"/>
          </a:solidFill>
          <a:ln/>
        </p:spPr>
      </p:sp>
      <p:sp>
        <p:nvSpPr>
          <p:cNvPr id="3" name="Shape 1"/>
          <p:cNvSpPr/>
          <p:nvPr/>
        </p:nvSpPr>
        <p:spPr>
          <a:xfrm>
            <a:off x="0" y="0"/>
            <a:ext cx="12192000" cy="68580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1227224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BBCE92-475B-6862-DAD9-AF9E26A96B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06C642-EDD2-75BE-9E79-9621C1D3ED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A13025-541D-D293-A54D-06D914DFC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E632A8-3CA0-489C-8E45-B6DC9A937138}" type="datetimeFigureOut">
              <a:rPr lang="en-US" smtClean="0"/>
              <a:t>11/5/2025</a:t>
            </a:fld>
            <a:endParaRPr lang="en-US"/>
          </a:p>
        </p:txBody>
      </p:sp>
      <p:sp>
        <p:nvSpPr>
          <p:cNvPr id="5" name="Footer Placeholder 4">
            <a:extLst>
              <a:ext uri="{FF2B5EF4-FFF2-40B4-BE49-F238E27FC236}">
                <a16:creationId xmlns:a16="http://schemas.microsoft.com/office/drawing/2014/main" id="{239E958F-319A-BAD6-0231-90DAFE332B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B9421D5-5033-8F35-3BD2-1516FFCEC0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AB9730-DC26-4BA3-AFD5-939EBD5A8577}" type="slidenum">
              <a:rPr lang="en-US" smtClean="0"/>
              <a:t>‹#›</a:t>
            </a:fld>
            <a:endParaRPr lang="en-US"/>
          </a:p>
        </p:txBody>
      </p:sp>
    </p:spTree>
    <p:extLst>
      <p:ext uri="{BB962C8B-B14F-4D97-AF65-F5344CB8AC3E}">
        <p14:creationId xmlns:p14="http://schemas.microsoft.com/office/powerpoint/2010/main" val="3466272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image" Target="../media/image18.svg"/><Relationship Id="rId11" Type="http://schemas.openxmlformats.org/officeDocument/2006/relationships/image" Target="../media/image4.pn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9.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0.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8" Type="http://schemas.openxmlformats.org/officeDocument/2006/relationships/image" Target="../media/image31.svg"/><Relationship Id="rId13" Type="http://schemas.openxmlformats.org/officeDocument/2006/relationships/image" Target="../media/image36.png"/><Relationship Id="rId18" Type="http://schemas.openxmlformats.org/officeDocument/2006/relationships/image" Target="../media/image4.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40.svg"/><Relationship Id="rId2" Type="http://schemas.openxmlformats.org/officeDocument/2006/relationships/notesSlide" Target="../notesSlides/notesSlide11.xml"/><Relationship Id="rId16" Type="http://schemas.openxmlformats.org/officeDocument/2006/relationships/image" Target="../media/image39.png"/><Relationship Id="rId20" Type="http://schemas.openxmlformats.org/officeDocument/2006/relationships/image" Target="../media/image42.png"/><Relationship Id="rId1" Type="http://schemas.openxmlformats.org/officeDocument/2006/relationships/slideLayout" Target="../slideLayouts/slideLayout21.xml"/><Relationship Id="rId6" Type="http://schemas.openxmlformats.org/officeDocument/2006/relationships/image" Target="../media/image29.png"/><Relationship Id="rId11" Type="http://schemas.openxmlformats.org/officeDocument/2006/relationships/image" Target="../media/image34.svg"/><Relationship Id="rId5" Type="http://schemas.openxmlformats.org/officeDocument/2006/relationships/image" Target="../media/image28.svg"/><Relationship Id="rId15" Type="http://schemas.openxmlformats.org/officeDocument/2006/relationships/image" Target="../media/image38.png"/><Relationship Id="rId10" Type="http://schemas.openxmlformats.org/officeDocument/2006/relationships/image" Target="../media/image33.png"/><Relationship Id="rId19" Type="http://schemas.openxmlformats.org/officeDocument/2006/relationships/image" Target="../media/image41.jpe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svg"/></Relationships>
</file>

<file path=ppt/slides/_rels/slide13.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4220" y="2309912"/>
            <a:ext cx="4662289" cy="582712"/>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583"/>
              </a:lnSpc>
              <a:buNone/>
            </a:pPr>
            <a:r>
              <a:rPr lang="en-US" sz="3650" b="1" err="1">
                <a:solidFill>
                  <a:srgbClr val="00B050"/>
                </a:solidFill>
                <a:latin typeface="Comfortaa Bold"/>
                <a:ea typeface="Comfortaa Bold" pitchFamily="34" charset="-122"/>
                <a:cs typeface="Comfortaa Bold" pitchFamily="34" charset="-120"/>
              </a:rPr>
              <a:t>AesthEval</a:t>
            </a:r>
            <a:endParaRPr lang="en-US" sz="3650" err="1">
              <a:solidFill>
                <a:srgbClr val="00B050"/>
              </a:solidFill>
              <a:latin typeface="Comfortaa Bold"/>
            </a:endParaRPr>
          </a:p>
        </p:txBody>
      </p:sp>
      <p:sp>
        <p:nvSpPr>
          <p:cNvPr id="3" name="Text 1"/>
          <p:cNvSpPr/>
          <p:nvPr/>
        </p:nvSpPr>
        <p:spPr>
          <a:xfrm>
            <a:off x="734219" y="2976464"/>
            <a:ext cx="7047905" cy="34954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750"/>
              </a:lnSpc>
              <a:buNone/>
            </a:pPr>
            <a:r>
              <a:rPr lang="en-US" sz="2150" b="1">
                <a:solidFill>
                  <a:srgbClr val="00B050"/>
                </a:solidFill>
                <a:latin typeface="Comfortaa Bold"/>
                <a:ea typeface="Comfortaa Bold" pitchFamily="34" charset="-122"/>
                <a:cs typeface="Comfortaa Bold" pitchFamily="34" charset="-120"/>
              </a:rPr>
              <a:t>Predicting Song Quality Through Audio Analysis</a:t>
            </a:r>
            <a:endParaRPr lang="en-US" sz="2150">
              <a:solidFill>
                <a:srgbClr val="00B050"/>
              </a:solidFill>
              <a:latin typeface="Comfortaa Bold"/>
            </a:endParaRPr>
          </a:p>
        </p:txBody>
      </p:sp>
      <p:sp>
        <p:nvSpPr>
          <p:cNvPr id="4" name="Text 2"/>
          <p:cNvSpPr/>
          <p:nvPr/>
        </p:nvSpPr>
        <p:spPr>
          <a:xfrm>
            <a:off x="734219" y="3640633"/>
            <a:ext cx="10723563" cy="33575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625"/>
              </a:lnSpc>
              <a:buNone/>
            </a:pPr>
            <a:r>
              <a:rPr lang="en-US" sz="1625">
                <a:solidFill>
                  <a:srgbClr val="D7D4CC"/>
                </a:solidFill>
                <a:latin typeface="Raleway Medium" pitchFamily="34" charset="0"/>
                <a:ea typeface="Raleway Medium" pitchFamily="34" charset="-122"/>
                <a:cs typeface="Raleway Medium" pitchFamily="34" charset="-120"/>
              </a:rPr>
              <a:t>Shourya Goyal • Aryan Gupta • Lakshmi C • Daivik Gupta</a:t>
            </a:r>
            <a:endParaRPr lang="en-US" sz="1625"/>
          </a:p>
        </p:txBody>
      </p:sp>
      <p:sp>
        <p:nvSpPr>
          <p:cNvPr id="5" name="Text 3"/>
          <p:cNvSpPr/>
          <p:nvPr/>
        </p:nvSpPr>
        <p:spPr>
          <a:xfrm>
            <a:off x="734219" y="4212332"/>
            <a:ext cx="10723563" cy="33575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625"/>
              </a:lnSpc>
              <a:buNone/>
            </a:pPr>
            <a:r>
              <a:rPr lang="en-US" sz="1625">
                <a:solidFill>
                  <a:srgbClr val="D7D4CC"/>
                </a:solidFill>
                <a:latin typeface="Raleway Medium" pitchFamily="34" charset="0"/>
                <a:ea typeface="Raleway Medium" pitchFamily="34" charset="-122"/>
                <a:cs typeface="Raleway Medium" pitchFamily="34" charset="-120"/>
              </a:rPr>
              <a:t>DA321: Multimodal Data Processing and Learning-I</a:t>
            </a:r>
            <a:endParaRPr lang="en-US" sz="1625"/>
          </a:p>
        </p:txBody>
      </p:sp>
      <p:sp>
        <p:nvSpPr>
          <p:cNvPr id="6" name="Rectangle 5">
            <a:extLst>
              <a:ext uri="{FF2B5EF4-FFF2-40B4-BE49-F238E27FC236}">
                <a16:creationId xmlns:a16="http://schemas.microsoft.com/office/drawing/2014/main" id="{C4CD24F3-0A51-18CF-D1A8-2C8C2D7527D2}"/>
              </a:ext>
            </a:extLst>
          </p:cNvPr>
          <p:cNvSpPr/>
          <p:nvPr/>
        </p:nvSpPr>
        <p:spPr>
          <a:xfrm>
            <a:off x="10678092" y="6429059"/>
            <a:ext cx="1433165" cy="363337"/>
          </a:xfrm>
          <a:prstGeom prst="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27AB9AB-EFDC-19E2-0C86-EA6DEC8FBA0A}"/>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tx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1483D0CF-08CB-8135-F544-5E53E3680F7D}"/>
              </a:ext>
            </a:extLst>
          </p:cNvPr>
          <p:cNvPicPr>
            <a:picLocks noChangeAspect="1"/>
          </p:cNvPicPr>
          <p:nvPr/>
        </p:nvPicPr>
        <p:blipFill>
          <a:blip r:embed="rId3"/>
          <a:stretch>
            <a:fillRect/>
          </a:stretch>
        </p:blipFill>
        <p:spPr>
          <a:xfrm>
            <a:off x="3028950" y="5129212"/>
            <a:ext cx="5229225" cy="1647825"/>
          </a:xfrm>
          <a:prstGeom prst="rect">
            <a:avLst/>
          </a:prstGeom>
        </p:spPr>
      </p:pic>
      <p:sp>
        <p:nvSpPr>
          <p:cNvPr id="2" name="Text 0"/>
          <p:cNvSpPr/>
          <p:nvPr/>
        </p:nvSpPr>
        <p:spPr>
          <a:xfrm>
            <a:off x="734219" y="1002610"/>
            <a:ext cx="3263603" cy="40788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3208"/>
              </a:lnSpc>
            </a:pPr>
            <a:r>
              <a:rPr lang="en-US" sz="3500" b="1">
                <a:solidFill>
                  <a:srgbClr val="00B050"/>
                </a:solidFill>
                <a:latin typeface="Aptos"/>
              </a:rPr>
              <a:t>Problem Statement</a:t>
            </a:r>
            <a:endParaRPr lang="en-US" sz="3500">
              <a:solidFill>
                <a:srgbClr val="00B050"/>
              </a:solidFill>
              <a:latin typeface="Aptos"/>
            </a:endParaRPr>
          </a:p>
        </p:txBody>
      </p:sp>
      <p:sp>
        <p:nvSpPr>
          <p:cNvPr id="3" name="Shape 1"/>
          <p:cNvSpPr/>
          <p:nvPr/>
        </p:nvSpPr>
        <p:spPr>
          <a:xfrm>
            <a:off x="734220" y="2117986"/>
            <a:ext cx="5288359" cy="1648331"/>
          </a:xfrm>
          <a:prstGeom prst="roundRect">
            <a:avLst>
              <a:gd name="adj" fmla="val 20141"/>
            </a:avLst>
          </a:prstGeom>
          <a:solidFill>
            <a:srgbClr val="27272B"/>
          </a:solidFill>
          <a:ln w="22860">
            <a:solidFill>
              <a:srgbClr val="00B050"/>
            </a:solidFill>
            <a:prstDash val="solid"/>
          </a:ln>
        </p:spPr>
      </p:sp>
      <p:sp>
        <p:nvSpPr>
          <p:cNvPr id="4" name="Text 2"/>
          <p:cNvSpPr/>
          <p:nvPr/>
        </p:nvSpPr>
        <p:spPr>
          <a:xfrm>
            <a:off x="900112" y="2389854"/>
            <a:ext cx="1631752" cy="2039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583"/>
              </a:lnSpc>
              <a:buNone/>
            </a:pPr>
            <a:r>
              <a:rPr lang="en-US" b="1">
                <a:solidFill>
                  <a:srgbClr val="FFFFFF"/>
                </a:solidFill>
                <a:latin typeface="Aptos"/>
                <a:ea typeface="Comfortaa Bold" pitchFamily="34" charset="-122"/>
                <a:cs typeface="Comfortaa Bold" pitchFamily="34" charset="-120"/>
              </a:rPr>
              <a:t>The Challenge</a:t>
            </a:r>
            <a:endParaRPr lang="en-US">
              <a:solidFill>
                <a:srgbClr val="FFFFFF"/>
              </a:solidFill>
              <a:latin typeface="Aptos"/>
            </a:endParaRPr>
          </a:p>
        </p:txBody>
      </p:sp>
      <p:sp>
        <p:nvSpPr>
          <p:cNvPr id="5" name="Text 3"/>
          <p:cNvSpPr/>
          <p:nvPr/>
        </p:nvSpPr>
        <p:spPr>
          <a:xfrm>
            <a:off x="900112" y="2654139"/>
            <a:ext cx="4956572" cy="57190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832"/>
              </a:lnSpc>
            </a:pPr>
            <a:r>
              <a:rPr lang="en-US" sz="1400">
                <a:solidFill>
                  <a:srgbClr val="FFFFFF"/>
                </a:solidFill>
                <a:ea typeface="+mn-lt"/>
                <a:cs typeface="+mn-lt"/>
              </a:rPr>
              <a:t>How do you predict if a song sounds "good" just by analyzing the audio itself? No reading lyrics, no checking who the artist is, no user data like streaming numbers just the audio features.</a:t>
            </a:r>
          </a:p>
        </p:txBody>
      </p:sp>
      <p:sp>
        <p:nvSpPr>
          <p:cNvPr id="6" name="Shape 4"/>
          <p:cNvSpPr/>
          <p:nvPr/>
        </p:nvSpPr>
        <p:spPr>
          <a:xfrm>
            <a:off x="6169422" y="2112940"/>
            <a:ext cx="5278267" cy="1653377"/>
          </a:xfrm>
          <a:prstGeom prst="roundRect">
            <a:avLst>
              <a:gd name="adj" fmla="val 20141"/>
            </a:avLst>
          </a:prstGeom>
          <a:solidFill>
            <a:srgbClr val="27272B"/>
          </a:solidFill>
          <a:ln w="22860">
            <a:solidFill>
              <a:srgbClr val="00B050"/>
            </a:solidFill>
            <a:prstDash val="solid"/>
          </a:ln>
        </p:spPr>
      </p:sp>
      <p:sp>
        <p:nvSpPr>
          <p:cNvPr id="7" name="Text 5"/>
          <p:cNvSpPr/>
          <p:nvPr/>
        </p:nvSpPr>
        <p:spPr>
          <a:xfrm>
            <a:off x="6335316" y="2389854"/>
            <a:ext cx="1631752" cy="2039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583"/>
              </a:lnSpc>
              <a:buNone/>
            </a:pPr>
            <a:r>
              <a:rPr lang="en-US" b="1">
                <a:solidFill>
                  <a:srgbClr val="FFFFFF"/>
                </a:solidFill>
                <a:latin typeface="Aptos"/>
                <a:ea typeface="Comfortaa Bold"/>
                <a:cs typeface="Comfortaa Bold" pitchFamily="34" charset="-120"/>
              </a:rPr>
              <a:t>Why It Matters</a:t>
            </a:r>
            <a:endParaRPr lang="en-US" sz="1250">
              <a:solidFill>
                <a:srgbClr val="FFFFFF"/>
              </a:solidFill>
              <a:latin typeface="Aptos"/>
              <a:ea typeface="Comfortaa Bold"/>
            </a:endParaRPr>
          </a:p>
        </p:txBody>
      </p:sp>
      <p:sp>
        <p:nvSpPr>
          <p:cNvPr id="8" name="Text 6"/>
          <p:cNvSpPr/>
          <p:nvPr/>
        </p:nvSpPr>
        <p:spPr>
          <a:xfrm>
            <a:off x="6330270" y="2702139"/>
            <a:ext cx="4956572" cy="46990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832"/>
              </a:lnSpc>
            </a:pPr>
            <a:r>
              <a:rPr lang="en-US" sz="1400">
                <a:solidFill>
                  <a:srgbClr val="FFFFFF"/>
                </a:solidFill>
                <a:latin typeface="Aptos"/>
                <a:ea typeface="+mn-lt"/>
                <a:cs typeface="+mn-lt"/>
              </a:rPr>
              <a:t>Small Independent Creators and AI</a:t>
            </a:r>
            <a:r>
              <a:rPr lang="en-US" sz="1400">
                <a:solidFill>
                  <a:srgbClr val="FFFFFF"/>
                </a:solidFill>
                <a:latin typeface="Aptos"/>
                <a:ea typeface="Raleway Medium" pitchFamily="34" charset="-122"/>
                <a:cs typeface="Raleway Medium" pitchFamily="34" charset="-120"/>
              </a:rPr>
              <a:t> composers need automatic quality assessment to evaluate their output without need of expensive pro feedback</a:t>
            </a:r>
            <a:endParaRPr lang="en-US" sz="1400">
              <a:solidFill>
                <a:srgbClr val="FFFFFF"/>
              </a:solidFill>
              <a:latin typeface="Aptos"/>
            </a:endParaRPr>
          </a:p>
        </p:txBody>
      </p:sp>
      <p:sp>
        <p:nvSpPr>
          <p:cNvPr id="9" name="Shape 7"/>
          <p:cNvSpPr/>
          <p:nvPr/>
        </p:nvSpPr>
        <p:spPr>
          <a:xfrm>
            <a:off x="734220" y="3853160"/>
            <a:ext cx="5288359" cy="1625006"/>
          </a:xfrm>
          <a:prstGeom prst="roundRect">
            <a:avLst>
              <a:gd name="adj" fmla="val 20141"/>
            </a:avLst>
          </a:prstGeom>
          <a:solidFill>
            <a:srgbClr val="27272B"/>
          </a:solidFill>
          <a:ln w="22860">
            <a:solidFill>
              <a:srgbClr val="00B050"/>
            </a:solidFill>
            <a:prstDash val="solid"/>
          </a:ln>
        </p:spPr>
      </p:sp>
      <p:sp>
        <p:nvSpPr>
          <p:cNvPr id="10" name="Text 8"/>
          <p:cNvSpPr/>
          <p:nvPr/>
        </p:nvSpPr>
        <p:spPr>
          <a:xfrm>
            <a:off x="900112" y="4104843"/>
            <a:ext cx="1631752" cy="2039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583"/>
              </a:lnSpc>
              <a:buNone/>
            </a:pPr>
            <a:r>
              <a:rPr lang="en-US" b="1">
                <a:solidFill>
                  <a:srgbClr val="FFFFFF"/>
                </a:solidFill>
                <a:latin typeface="Aptos"/>
                <a:ea typeface="Comfortaa Bold"/>
                <a:cs typeface="Comfortaa Bold" pitchFamily="34" charset="-120"/>
              </a:rPr>
              <a:t>Real-World Impact</a:t>
            </a:r>
            <a:endParaRPr lang="en-US">
              <a:solidFill>
                <a:srgbClr val="FFFFFF"/>
              </a:solidFill>
              <a:latin typeface="Aptos"/>
              <a:ea typeface="Comfortaa Bold"/>
            </a:endParaRPr>
          </a:p>
        </p:txBody>
      </p:sp>
      <p:sp>
        <p:nvSpPr>
          <p:cNvPr id="11" name="Text 9"/>
          <p:cNvSpPr/>
          <p:nvPr/>
        </p:nvSpPr>
        <p:spPr>
          <a:xfrm>
            <a:off x="900112" y="4356571"/>
            <a:ext cx="4956572" cy="46990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832"/>
              </a:lnSpc>
            </a:pPr>
            <a:r>
              <a:rPr lang="en-US" sz="1300">
                <a:solidFill>
                  <a:srgbClr val="FFFFFF"/>
                </a:solidFill>
                <a:ea typeface="+mn-lt"/>
                <a:cs typeface="+mn-lt"/>
              </a:rPr>
              <a:t>Spotify gets over 100,000 new songs uploaded every single day. Having human experts listen to each one is impossible but this is needed to help new artists understand what's working, and assist music labels in discovering talent.</a:t>
            </a:r>
          </a:p>
        </p:txBody>
      </p:sp>
      <p:sp>
        <p:nvSpPr>
          <p:cNvPr id="12" name="Shape 10"/>
          <p:cNvSpPr/>
          <p:nvPr/>
        </p:nvSpPr>
        <p:spPr>
          <a:xfrm>
            <a:off x="6169422" y="3853160"/>
            <a:ext cx="5283313" cy="1619959"/>
          </a:xfrm>
          <a:prstGeom prst="roundRect">
            <a:avLst>
              <a:gd name="adj" fmla="val 20141"/>
            </a:avLst>
          </a:prstGeom>
          <a:solidFill>
            <a:srgbClr val="27272B"/>
          </a:solidFill>
          <a:ln w="22860">
            <a:solidFill>
              <a:srgbClr val="00B050"/>
            </a:solidFill>
            <a:prstDash val="solid"/>
          </a:ln>
        </p:spPr>
      </p:sp>
      <p:sp>
        <p:nvSpPr>
          <p:cNvPr id="13" name="Text 11"/>
          <p:cNvSpPr/>
          <p:nvPr/>
        </p:nvSpPr>
        <p:spPr>
          <a:xfrm>
            <a:off x="6335316" y="4104843"/>
            <a:ext cx="1631752" cy="2039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583"/>
              </a:lnSpc>
              <a:buNone/>
            </a:pPr>
            <a:r>
              <a:rPr lang="en-US" b="1">
                <a:solidFill>
                  <a:srgbClr val="FFFFFF"/>
                </a:solidFill>
                <a:latin typeface="Aptos"/>
                <a:ea typeface="Comfortaa Bold"/>
                <a:cs typeface="Comfortaa Bold" pitchFamily="34" charset="-120"/>
              </a:rPr>
              <a:t>Scientific Goal</a:t>
            </a:r>
            <a:endParaRPr lang="en-US">
              <a:solidFill>
                <a:srgbClr val="FFFFFF"/>
              </a:solidFill>
              <a:latin typeface="Aptos"/>
              <a:ea typeface="Comfortaa Bold"/>
            </a:endParaRPr>
          </a:p>
        </p:txBody>
      </p:sp>
      <p:sp>
        <p:nvSpPr>
          <p:cNvPr id="14" name="Text 12"/>
          <p:cNvSpPr/>
          <p:nvPr/>
        </p:nvSpPr>
        <p:spPr>
          <a:xfrm>
            <a:off x="6330270" y="4356571"/>
            <a:ext cx="4956572" cy="46990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832"/>
              </a:lnSpc>
            </a:pPr>
            <a:r>
              <a:rPr lang="en-US" sz="1400">
                <a:solidFill>
                  <a:srgbClr val="FFFFFF"/>
                </a:solidFill>
                <a:ea typeface="+mn-lt"/>
                <a:cs typeface="+mn-lt"/>
              </a:rPr>
              <a:t>Decoding which measurable sound properties drive quality perception. Is it smoothness of the vocals, the rhythmic precision, or the melodic structure ?</a:t>
            </a:r>
            <a:endParaRPr lang="en-US" sz="1400">
              <a:solidFill>
                <a:srgbClr val="FFFFFF"/>
              </a:solidFill>
            </a:endParaRPr>
          </a:p>
        </p:txBody>
      </p:sp>
      <p:sp>
        <p:nvSpPr>
          <p:cNvPr id="15" name="Rectangle 14">
            <a:extLst>
              <a:ext uri="{FF2B5EF4-FFF2-40B4-BE49-F238E27FC236}">
                <a16:creationId xmlns:a16="http://schemas.microsoft.com/office/drawing/2014/main" id="{E9439F40-C776-28B8-D037-3C2CB74B657B}"/>
              </a:ext>
            </a:extLst>
          </p:cNvPr>
          <p:cNvSpPr/>
          <p:nvPr/>
        </p:nvSpPr>
        <p:spPr>
          <a:xfrm>
            <a:off x="10637721" y="6388688"/>
            <a:ext cx="1463443" cy="373430"/>
          </a:xfrm>
          <a:prstGeom prst="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black and green circle with a star in it&#10;&#10;AI-generated content may be incorrect.">
            <a:extLst>
              <a:ext uri="{FF2B5EF4-FFF2-40B4-BE49-F238E27FC236}">
                <a16:creationId xmlns:a16="http://schemas.microsoft.com/office/drawing/2014/main" id="{E25E10D5-5294-EFA6-1E6A-6B7C739A6CC7}"/>
              </a:ext>
            </a:extLst>
          </p:cNvPr>
          <p:cNvPicPr>
            <a:picLocks noChangeAspect="1"/>
          </p:cNvPicPr>
          <p:nvPr/>
        </p:nvPicPr>
        <p:blipFill>
          <a:blip r:embed="rId4"/>
          <a:stretch>
            <a:fillRect/>
          </a:stretch>
        </p:blipFill>
        <p:spPr>
          <a:xfrm>
            <a:off x="11446563" y="242957"/>
            <a:ext cx="408610" cy="386523"/>
          </a:xfrm>
          <a:prstGeom prst="rect">
            <a:avLst/>
          </a:prstGeom>
        </p:spPr>
      </p:pic>
    </p:spTree>
    <p:extLst>
      <p:ext uri="{BB962C8B-B14F-4D97-AF65-F5344CB8AC3E}">
        <p14:creationId xmlns:p14="http://schemas.microsoft.com/office/powerpoint/2010/main" val="1326276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4219" y="947985"/>
            <a:ext cx="3286125" cy="40788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3208"/>
              </a:lnSpc>
              <a:buNone/>
            </a:pPr>
            <a:r>
              <a:rPr lang="en-US" sz="3600" b="1">
                <a:solidFill>
                  <a:srgbClr val="00B050"/>
                </a:solidFill>
                <a:latin typeface="Aptos"/>
                <a:ea typeface="Comfortaa Bold"/>
                <a:cs typeface="Comfortaa Bold" pitchFamily="34" charset="-120"/>
              </a:rPr>
              <a:t>Objectives &amp; Scope</a:t>
            </a:r>
            <a:endParaRPr lang="en-US" sz="3600">
              <a:solidFill>
                <a:srgbClr val="00B050"/>
              </a:solidFill>
              <a:latin typeface="Aptos"/>
              <a:ea typeface="Comfortaa Bold"/>
            </a:endParaRPr>
          </a:p>
        </p:txBody>
      </p:sp>
      <p:sp>
        <p:nvSpPr>
          <p:cNvPr id="3" name="Text 1"/>
          <p:cNvSpPr/>
          <p:nvPr/>
        </p:nvSpPr>
        <p:spPr>
          <a:xfrm>
            <a:off x="734219" y="1492566"/>
            <a:ext cx="10033563" cy="46990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832"/>
              </a:lnSpc>
            </a:pPr>
            <a:r>
              <a:rPr lang="en-US" sz="1800">
                <a:solidFill>
                  <a:srgbClr val="FFFFFF"/>
                </a:solidFill>
                <a:latin typeface="Aptos"/>
                <a:ea typeface="+mn-lt"/>
                <a:cs typeface="+mn-lt"/>
              </a:rPr>
              <a:t>We want to figure out which parts of a song matter most for quality.</a:t>
            </a:r>
            <a:r>
              <a:rPr lang="en-US" sz="1800">
                <a:solidFill>
                  <a:srgbClr val="FFFFFF"/>
                </a:solidFill>
                <a:latin typeface="Aptos"/>
                <a:ea typeface="Raleway Medium" pitchFamily="34" charset="-122"/>
                <a:cs typeface="Raleway Medium" pitchFamily="34" charset="-120"/>
              </a:rPr>
              <a:t> and to develop a robust framework for multi-dimensional  assessment.</a:t>
            </a:r>
            <a:endParaRPr lang="en-US" sz="1800">
              <a:solidFill>
                <a:srgbClr val="FFFFFF"/>
              </a:solidFill>
              <a:latin typeface="Aptos"/>
            </a:endParaRPr>
          </a:p>
        </p:txBody>
      </p:sp>
      <p:sp>
        <p:nvSpPr>
          <p:cNvPr id="4" name="Text 2"/>
          <p:cNvSpPr/>
          <p:nvPr/>
        </p:nvSpPr>
        <p:spPr>
          <a:xfrm>
            <a:off x="784683" y="2603533"/>
            <a:ext cx="146843" cy="18355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33"/>
              </a:lnSpc>
              <a:buNone/>
            </a:pPr>
            <a:r>
              <a:rPr lang="en-US" sz="1800">
                <a:solidFill>
                  <a:srgbClr val="FFFFFF"/>
                </a:solidFill>
                <a:latin typeface="Aptos"/>
                <a:ea typeface="Comfortaa Light" pitchFamily="34" charset="-122"/>
                <a:cs typeface="Comfortaa Light" pitchFamily="34" charset="-120"/>
              </a:rPr>
              <a:t>01</a:t>
            </a:r>
            <a:endParaRPr lang="en-US" sz="1800">
              <a:solidFill>
                <a:srgbClr val="FFFFFF"/>
              </a:solidFill>
              <a:latin typeface="Aptos"/>
            </a:endParaRPr>
          </a:p>
        </p:txBody>
      </p:sp>
      <p:sp>
        <p:nvSpPr>
          <p:cNvPr id="5" name="Shape 3"/>
          <p:cNvSpPr/>
          <p:nvPr/>
        </p:nvSpPr>
        <p:spPr>
          <a:xfrm>
            <a:off x="784683" y="2864118"/>
            <a:ext cx="3476625" cy="19050"/>
          </a:xfrm>
          <a:prstGeom prst="rect">
            <a:avLst/>
          </a:prstGeom>
          <a:solidFill>
            <a:srgbClr val="00B050"/>
          </a:solidFill>
          <a:ln>
            <a:solidFill>
              <a:srgbClr val="00B050"/>
            </a:solidFill>
          </a:ln>
        </p:spPr>
      </p:sp>
      <p:sp>
        <p:nvSpPr>
          <p:cNvPr id="6" name="Text 4"/>
          <p:cNvSpPr/>
          <p:nvPr/>
        </p:nvSpPr>
        <p:spPr>
          <a:xfrm>
            <a:off x="774590" y="3020677"/>
            <a:ext cx="2514798" cy="2039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583"/>
              </a:lnSpc>
              <a:buNone/>
            </a:pPr>
            <a:r>
              <a:rPr lang="en-US" sz="1400" b="1">
                <a:solidFill>
                  <a:srgbClr val="FFFFFF"/>
                </a:solidFill>
                <a:latin typeface="Aptos"/>
                <a:ea typeface="Comfortaa Bold"/>
                <a:cs typeface="Comfortaa Bold" pitchFamily="34" charset="-120"/>
              </a:rPr>
              <a:t>Complete Processing Pipeline</a:t>
            </a:r>
            <a:endParaRPr lang="en-US" sz="1400">
              <a:solidFill>
                <a:srgbClr val="FFFFFF"/>
              </a:solidFill>
              <a:latin typeface="Aptos"/>
              <a:ea typeface="Comfortaa Bold"/>
            </a:endParaRPr>
          </a:p>
        </p:txBody>
      </p:sp>
      <p:sp>
        <p:nvSpPr>
          <p:cNvPr id="7" name="Text 5"/>
          <p:cNvSpPr/>
          <p:nvPr/>
        </p:nvSpPr>
        <p:spPr>
          <a:xfrm>
            <a:off x="774590" y="3273202"/>
            <a:ext cx="3476625" cy="85485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833"/>
              </a:lnSpc>
            </a:pPr>
            <a:r>
              <a:rPr lang="en-US" sz="1400">
                <a:solidFill>
                  <a:srgbClr val="FFFFFF"/>
                </a:solidFill>
                <a:latin typeface="Aptos"/>
                <a:ea typeface="Raleway Medium" pitchFamily="34" charset="-122"/>
                <a:cs typeface="Raleway Medium" pitchFamily="34" charset="-120"/>
              </a:rPr>
              <a:t>Develop an audio processing pipeline by</a:t>
            </a:r>
            <a:r>
              <a:rPr lang="en-US" sz="1400">
                <a:solidFill>
                  <a:srgbClr val="FFFFFF"/>
                </a:solidFill>
                <a:latin typeface="Aptos"/>
                <a:ea typeface="+mn-lt"/>
                <a:cs typeface="+mn-lt"/>
              </a:rPr>
              <a:t> taking any song, breaking it down into its building blocks (vocals, instruments, drums), and extracting meaningful measurements from each part.</a:t>
            </a:r>
            <a:endParaRPr lang="en-US" sz="1400">
              <a:solidFill>
                <a:srgbClr val="FFFFFF"/>
              </a:solidFill>
              <a:latin typeface="Aptos"/>
            </a:endParaRPr>
          </a:p>
        </p:txBody>
      </p:sp>
      <p:sp>
        <p:nvSpPr>
          <p:cNvPr id="8" name="Text 6"/>
          <p:cNvSpPr/>
          <p:nvPr/>
        </p:nvSpPr>
        <p:spPr>
          <a:xfrm>
            <a:off x="4408152" y="2603533"/>
            <a:ext cx="146843" cy="18355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33"/>
              </a:lnSpc>
              <a:buNone/>
            </a:pPr>
            <a:r>
              <a:rPr lang="en-US" sz="1800">
                <a:solidFill>
                  <a:srgbClr val="FFFFFF"/>
                </a:solidFill>
                <a:latin typeface="Aptos"/>
                <a:ea typeface="Comfortaa Light" pitchFamily="34" charset="-122"/>
                <a:cs typeface="Comfortaa Light" pitchFamily="34" charset="-120"/>
              </a:rPr>
              <a:t>02</a:t>
            </a:r>
            <a:endParaRPr lang="en-US" sz="1800">
              <a:solidFill>
                <a:srgbClr val="FFFFFF"/>
              </a:solidFill>
              <a:latin typeface="Aptos"/>
            </a:endParaRPr>
          </a:p>
        </p:txBody>
      </p:sp>
      <p:sp>
        <p:nvSpPr>
          <p:cNvPr id="9" name="Shape 7"/>
          <p:cNvSpPr/>
          <p:nvPr/>
        </p:nvSpPr>
        <p:spPr>
          <a:xfrm>
            <a:off x="4408152" y="2858118"/>
            <a:ext cx="3476625" cy="19050"/>
          </a:xfrm>
          <a:prstGeom prst="rect">
            <a:avLst/>
          </a:prstGeom>
          <a:solidFill>
            <a:srgbClr val="00B050"/>
          </a:solidFill>
          <a:ln>
            <a:solidFill>
              <a:srgbClr val="00B050"/>
            </a:solidFill>
          </a:ln>
        </p:spPr>
      </p:sp>
      <p:sp>
        <p:nvSpPr>
          <p:cNvPr id="10" name="Text 8"/>
          <p:cNvSpPr/>
          <p:nvPr/>
        </p:nvSpPr>
        <p:spPr>
          <a:xfrm>
            <a:off x="4428337" y="3015332"/>
            <a:ext cx="2089249" cy="2039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583"/>
              </a:lnSpc>
            </a:pPr>
            <a:r>
              <a:rPr lang="en-US" sz="1400" b="1">
                <a:solidFill>
                  <a:srgbClr val="FFFFFF"/>
                </a:solidFill>
                <a:ea typeface="+mn-lt"/>
                <a:cs typeface="+mn-lt"/>
              </a:rPr>
              <a:t>Test Different Ways to Merge Information</a:t>
            </a:r>
            <a:r>
              <a:rPr lang="en-US" sz="1400">
                <a:solidFill>
                  <a:srgbClr val="FFFFFF"/>
                </a:solidFill>
                <a:ea typeface="+mn-lt"/>
                <a:cs typeface="+mn-lt"/>
              </a:rPr>
              <a:t> </a:t>
            </a:r>
            <a:endParaRPr lang="en-US" sz="1400">
              <a:solidFill>
                <a:srgbClr val="FFFFFF"/>
              </a:solidFill>
            </a:endParaRPr>
          </a:p>
        </p:txBody>
      </p:sp>
      <p:sp>
        <p:nvSpPr>
          <p:cNvPr id="11" name="Text 9"/>
          <p:cNvSpPr/>
          <p:nvPr/>
        </p:nvSpPr>
        <p:spPr>
          <a:xfrm>
            <a:off x="4428337" y="3275445"/>
            <a:ext cx="3476625" cy="77685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832"/>
              </a:lnSpc>
            </a:pPr>
            <a:r>
              <a:rPr lang="en-US" sz="1400">
                <a:solidFill>
                  <a:srgbClr val="FFFFFF"/>
                </a:solidFill>
                <a:ea typeface="+mn-lt"/>
                <a:cs typeface="+mn-lt"/>
              </a:rPr>
              <a:t>We're testing three approaches: Early Fusion (mix everything upfront), Late Fusion (analyze separately, then vote), and Hybrid (a smart middle ground).</a:t>
            </a:r>
            <a:endParaRPr lang="en-US" sz="1400">
              <a:solidFill>
                <a:srgbClr val="FFFFFF"/>
              </a:solidFill>
            </a:endParaRPr>
          </a:p>
        </p:txBody>
      </p:sp>
      <p:sp>
        <p:nvSpPr>
          <p:cNvPr id="12" name="Text 10"/>
          <p:cNvSpPr/>
          <p:nvPr/>
        </p:nvSpPr>
        <p:spPr>
          <a:xfrm>
            <a:off x="7953620" y="2603533"/>
            <a:ext cx="146843" cy="18355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33"/>
              </a:lnSpc>
              <a:buNone/>
            </a:pPr>
            <a:r>
              <a:rPr lang="en-US" sz="1800">
                <a:solidFill>
                  <a:srgbClr val="FFFFFF"/>
                </a:solidFill>
                <a:latin typeface="Aptos"/>
                <a:ea typeface="Comfortaa Light" pitchFamily="34" charset="-122"/>
                <a:cs typeface="Comfortaa Light" pitchFamily="34" charset="-120"/>
              </a:rPr>
              <a:t>03</a:t>
            </a:r>
            <a:endParaRPr lang="en-US" sz="1800">
              <a:solidFill>
                <a:srgbClr val="FFFFFF"/>
              </a:solidFill>
              <a:latin typeface="Aptos"/>
            </a:endParaRPr>
          </a:p>
        </p:txBody>
      </p:sp>
      <p:sp>
        <p:nvSpPr>
          <p:cNvPr id="13" name="Shape 11"/>
          <p:cNvSpPr/>
          <p:nvPr/>
        </p:nvSpPr>
        <p:spPr>
          <a:xfrm>
            <a:off x="7952107" y="2859996"/>
            <a:ext cx="3476625" cy="19050"/>
          </a:xfrm>
          <a:prstGeom prst="rect">
            <a:avLst/>
          </a:prstGeom>
          <a:solidFill>
            <a:srgbClr val="00B050"/>
          </a:solidFill>
          <a:ln>
            <a:solidFill>
              <a:srgbClr val="00B050"/>
            </a:solidFill>
          </a:ln>
        </p:spPr>
      </p:sp>
      <p:sp>
        <p:nvSpPr>
          <p:cNvPr id="14" name="Text 12"/>
          <p:cNvSpPr/>
          <p:nvPr/>
        </p:nvSpPr>
        <p:spPr>
          <a:xfrm>
            <a:off x="7972187" y="3026677"/>
            <a:ext cx="2611338" cy="2039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583"/>
              </a:lnSpc>
            </a:pPr>
            <a:r>
              <a:rPr lang="en-US" sz="1400" b="1">
                <a:solidFill>
                  <a:srgbClr val="FFFFFF"/>
                </a:solidFill>
                <a:ea typeface="+mn-lt"/>
                <a:cs typeface="+mn-lt"/>
              </a:rPr>
              <a:t>Find What Matters Most</a:t>
            </a:r>
            <a:endParaRPr lang="en-US" sz="1400" b="1">
              <a:solidFill>
                <a:srgbClr val="FFFFFF"/>
              </a:solidFill>
            </a:endParaRPr>
          </a:p>
        </p:txBody>
      </p:sp>
      <p:sp>
        <p:nvSpPr>
          <p:cNvPr id="15" name="Text 13"/>
          <p:cNvSpPr/>
          <p:nvPr/>
        </p:nvSpPr>
        <p:spPr>
          <a:xfrm>
            <a:off x="7971338" y="3275445"/>
            <a:ext cx="3476625" cy="93980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833"/>
              </a:lnSpc>
            </a:pPr>
            <a:r>
              <a:rPr lang="en-US" sz="1400">
                <a:solidFill>
                  <a:srgbClr val="FFFFFF"/>
                </a:solidFill>
                <a:latin typeface="Aptos"/>
                <a:ea typeface="Raleway Medium" pitchFamily="34" charset="-122"/>
                <a:cs typeface="Raleway Medium" pitchFamily="34" charset="-120"/>
              </a:rPr>
              <a:t>Identify which audio features: vocal characteristics, harmonic content, or rhythmic patterns are most predictive of perceived quality across five aesthetic dimensions.</a:t>
            </a:r>
            <a:endParaRPr lang="en-US" sz="1400">
              <a:solidFill>
                <a:srgbClr val="FFFFFF"/>
              </a:solidFill>
              <a:latin typeface="Aptos"/>
            </a:endParaRPr>
          </a:p>
        </p:txBody>
      </p:sp>
      <p:sp>
        <p:nvSpPr>
          <p:cNvPr id="17" name="Rectangle 16">
            <a:extLst>
              <a:ext uri="{FF2B5EF4-FFF2-40B4-BE49-F238E27FC236}">
                <a16:creationId xmlns:a16="http://schemas.microsoft.com/office/drawing/2014/main" id="{935E9A60-859D-5544-F304-5611479D5A76}"/>
              </a:ext>
            </a:extLst>
          </p:cNvPr>
          <p:cNvSpPr/>
          <p:nvPr/>
        </p:nvSpPr>
        <p:spPr>
          <a:xfrm>
            <a:off x="10637721" y="6388688"/>
            <a:ext cx="1463443" cy="373430"/>
          </a:xfrm>
          <a:prstGeom prst="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A black and green circle with a star in it&#10;&#10;AI-generated content may be incorrect.">
            <a:extLst>
              <a:ext uri="{FF2B5EF4-FFF2-40B4-BE49-F238E27FC236}">
                <a16:creationId xmlns:a16="http://schemas.microsoft.com/office/drawing/2014/main" id="{ACA0B117-BCE2-28AF-D9DF-D6ED997B0B4F}"/>
              </a:ext>
            </a:extLst>
          </p:cNvPr>
          <p:cNvPicPr>
            <a:picLocks noChangeAspect="1"/>
          </p:cNvPicPr>
          <p:nvPr/>
        </p:nvPicPr>
        <p:blipFill>
          <a:blip r:embed="rId3"/>
          <a:stretch>
            <a:fillRect/>
          </a:stretch>
        </p:blipFill>
        <p:spPr>
          <a:xfrm>
            <a:off x="11446563" y="242957"/>
            <a:ext cx="408610" cy="386523"/>
          </a:xfrm>
          <a:prstGeom prst="rect">
            <a:avLst/>
          </a:prstGeom>
        </p:spPr>
      </p:pic>
      <p:pic>
        <p:nvPicPr>
          <p:cNvPr id="24" name="Picture 23" descr="A close up of a button&#10;&#10;AI-generated content may be incorrect.">
            <a:extLst>
              <a:ext uri="{FF2B5EF4-FFF2-40B4-BE49-F238E27FC236}">
                <a16:creationId xmlns:a16="http://schemas.microsoft.com/office/drawing/2014/main" id="{E7EAD93A-50EE-8A1F-653A-F49F1D782EB9}"/>
              </a:ext>
            </a:extLst>
          </p:cNvPr>
          <p:cNvPicPr>
            <a:picLocks noChangeAspect="1"/>
          </p:cNvPicPr>
          <p:nvPr/>
        </p:nvPicPr>
        <p:blipFill>
          <a:blip r:embed="rId4"/>
          <a:stretch>
            <a:fillRect/>
          </a:stretch>
        </p:blipFill>
        <p:spPr>
          <a:xfrm>
            <a:off x="3140869" y="5688806"/>
            <a:ext cx="5219700" cy="1076325"/>
          </a:xfrm>
          <a:prstGeom prst="rect">
            <a:avLst/>
          </a:prstGeom>
        </p:spPr>
      </p:pic>
    </p:spTree>
    <p:extLst>
      <p:ext uri="{BB962C8B-B14F-4D97-AF65-F5344CB8AC3E}">
        <p14:creationId xmlns:p14="http://schemas.microsoft.com/office/powerpoint/2010/main" val="2067992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8323" y="629844"/>
            <a:ext cx="3030438" cy="37871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958"/>
              </a:lnSpc>
              <a:buNone/>
            </a:pPr>
            <a:r>
              <a:rPr lang="en-US" sz="3600" b="1">
                <a:solidFill>
                  <a:srgbClr val="00B050"/>
                </a:solidFill>
                <a:latin typeface="Aptos"/>
                <a:ea typeface="Comfortaa Bold"/>
                <a:cs typeface="Comfortaa Bold" pitchFamily="34" charset="-120"/>
              </a:rPr>
              <a:t>Related Work</a:t>
            </a:r>
            <a:endParaRPr lang="en-US" sz="3600">
              <a:solidFill>
                <a:srgbClr val="00B050"/>
              </a:solidFill>
              <a:latin typeface="Aptos"/>
              <a:ea typeface="Comfortaa Bold"/>
            </a:endParaRPr>
          </a:p>
        </p:txBody>
      </p:sp>
      <p:sp>
        <p:nvSpPr>
          <p:cNvPr id="3" name="Text 1"/>
          <p:cNvSpPr/>
          <p:nvPr/>
        </p:nvSpPr>
        <p:spPr>
          <a:xfrm>
            <a:off x="661332" y="1528284"/>
            <a:ext cx="1632943"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458"/>
              </a:lnSpc>
              <a:buNone/>
            </a:pPr>
            <a:r>
              <a:rPr lang="en-US" sz="1800" b="1">
                <a:solidFill>
                  <a:srgbClr val="00B050"/>
                </a:solidFill>
                <a:latin typeface="Aptos"/>
                <a:ea typeface="Comfortaa Bold"/>
                <a:cs typeface="Comfortaa Bold" pitchFamily="34" charset="-120"/>
              </a:rPr>
              <a:t>Existing Approaches</a:t>
            </a:r>
            <a:endParaRPr lang="en-US" sz="1800">
              <a:solidFill>
                <a:srgbClr val="00B050"/>
              </a:solidFill>
              <a:latin typeface="Aptos"/>
              <a:ea typeface="Comfortaa Bold"/>
            </a:endParaRPr>
          </a:p>
        </p:txBody>
      </p:sp>
      <p:sp>
        <p:nvSpPr>
          <p:cNvPr id="4" name="Text 2"/>
          <p:cNvSpPr/>
          <p:nvPr/>
        </p:nvSpPr>
        <p:spPr>
          <a:xfrm>
            <a:off x="661332" y="1794285"/>
            <a:ext cx="6301085" cy="436166"/>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707"/>
              </a:lnSpc>
            </a:pPr>
            <a:r>
              <a:rPr lang="en-US" sz="1400">
                <a:solidFill>
                  <a:srgbClr val="D7D4CC"/>
                </a:solidFill>
                <a:ea typeface="+mn-lt"/>
                <a:cs typeface="+mn-lt"/>
              </a:rPr>
              <a:t>Most music recommendation systems work like this: "People who liked Song A also liked Song B, so you'll probably like it too." That's collaborative filtering.</a:t>
            </a:r>
            <a:endParaRPr lang="en-US" sz="1400"/>
          </a:p>
        </p:txBody>
      </p:sp>
      <p:sp>
        <p:nvSpPr>
          <p:cNvPr id="5" name="Text 3"/>
          <p:cNvSpPr/>
          <p:nvPr/>
        </p:nvSpPr>
        <p:spPr>
          <a:xfrm>
            <a:off x="661332" y="2260419"/>
            <a:ext cx="6301085" cy="436166"/>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708"/>
              </a:lnSpc>
            </a:pPr>
            <a:r>
              <a:rPr lang="en-US" sz="1400">
                <a:solidFill>
                  <a:srgbClr val="D7D4CC"/>
                </a:solidFill>
                <a:latin typeface="Aptos"/>
                <a:ea typeface="Raleway Medium" pitchFamily="34" charset="-122"/>
                <a:cs typeface="Raleway Medium" pitchFamily="34" charset="-120"/>
              </a:rPr>
              <a:t>While these approaches work well for personalized recommendations, they don't explain </a:t>
            </a:r>
            <a:r>
              <a:rPr lang="en-US" sz="1400" i="1">
                <a:solidFill>
                  <a:srgbClr val="D7D4CC"/>
                </a:solidFill>
                <a:latin typeface="Aptos"/>
                <a:ea typeface="Raleway Medium" pitchFamily="34" charset="-122"/>
                <a:cs typeface="Raleway Medium" pitchFamily="34" charset="-120"/>
              </a:rPr>
              <a:t>why</a:t>
            </a:r>
            <a:r>
              <a:rPr lang="en-US" sz="1400">
                <a:solidFill>
                  <a:srgbClr val="D7D4CC"/>
                </a:solidFill>
                <a:latin typeface="Aptos"/>
                <a:ea typeface="Raleway Medium" pitchFamily="34" charset="-122"/>
                <a:cs typeface="Raleway Medium" pitchFamily="34" charset="-120"/>
              </a:rPr>
              <a:t> certain songs are perceived as high quality from an acoustic perspective, basically we need something objective also but something that also tells us what the people like.</a:t>
            </a:r>
            <a:endParaRPr lang="en-US" sz="1400">
              <a:solidFill>
                <a:srgbClr val="D7D4CC"/>
              </a:solidFill>
              <a:latin typeface="Aptos"/>
            </a:endParaRPr>
          </a:p>
        </p:txBody>
      </p:sp>
      <p:sp>
        <p:nvSpPr>
          <p:cNvPr id="6" name="Text 4"/>
          <p:cNvSpPr/>
          <p:nvPr/>
        </p:nvSpPr>
        <p:spPr>
          <a:xfrm>
            <a:off x="661333" y="3429259"/>
            <a:ext cx="1515169"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458"/>
              </a:lnSpc>
              <a:buNone/>
            </a:pPr>
            <a:r>
              <a:rPr lang="en-US" sz="1800" b="1">
                <a:solidFill>
                  <a:srgbClr val="00B050"/>
                </a:solidFill>
                <a:latin typeface="Aptos"/>
                <a:ea typeface="Comfortaa Bold"/>
                <a:cs typeface="Comfortaa Bold" pitchFamily="34" charset="-120"/>
              </a:rPr>
              <a:t>Our Contribution</a:t>
            </a:r>
            <a:endParaRPr lang="en-US" sz="1800">
              <a:solidFill>
                <a:srgbClr val="00B050"/>
              </a:solidFill>
              <a:latin typeface="Aptos"/>
              <a:ea typeface="Comfortaa Bold"/>
            </a:endParaRPr>
          </a:p>
        </p:txBody>
      </p:sp>
      <p:sp>
        <p:nvSpPr>
          <p:cNvPr id="7" name="Text 5"/>
          <p:cNvSpPr/>
          <p:nvPr/>
        </p:nvSpPr>
        <p:spPr>
          <a:xfrm>
            <a:off x="661332" y="3655504"/>
            <a:ext cx="6301085" cy="65424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707"/>
              </a:lnSpc>
            </a:pPr>
            <a:r>
              <a:rPr lang="en-US" sz="1400">
                <a:solidFill>
                  <a:srgbClr val="D7D4CC"/>
                </a:solidFill>
                <a:ea typeface="+mn-lt"/>
                <a:cs typeface="+mn-lt"/>
              </a:rPr>
              <a:t>There's surprisingly little research that breaks songs into their musical components (vocals, harmony, rhythm) and asks: "Which elements contribute most to perceived quality?" Most studies either analyze whole songs or focus on technical tasks like genre classification rather than quality prediction, or they use user data like streaming number</a:t>
            </a:r>
            <a:endParaRPr lang="en-US" sz="1400"/>
          </a:p>
        </p:txBody>
      </p:sp>
      <p:sp>
        <p:nvSpPr>
          <p:cNvPr id="8" name="Text 6"/>
          <p:cNvSpPr/>
          <p:nvPr/>
        </p:nvSpPr>
        <p:spPr>
          <a:xfrm>
            <a:off x="7374236" y="2508945"/>
            <a:ext cx="1515169"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458"/>
              </a:lnSpc>
            </a:pPr>
            <a:r>
              <a:rPr lang="en-US" sz="1800" b="1">
                <a:solidFill>
                  <a:srgbClr val="00B050"/>
                </a:solidFill>
                <a:latin typeface="Aptos"/>
                <a:ea typeface="Comfortaa Bold"/>
              </a:rPr>
              <a:t>Some existing work for music evaluation</a:t>
            </a:r>
          </a:p>
        </p:txBody>
      </p:sp>
      <p:sp>
        <p:nvSpPr>
          <p:cNvPr id="9" name="Text 7"/>
          <p:cNvSpPr/>
          <p:nvPr/>
        </p:nvSpPr>
        <p:spPr>
          <a:xfrm>
            <a:off x="7374235" y="2834581"/>
            <a:ext cx="4076545" cy="229694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r>
              <a:rPr lang="en-US" sz="1200" b="1">
                <a:solidFill>
                  <a:srgbClr val="D7D4CC"/>
                </a:solidFill>
                <a:latin typeface="Aptos"/>
                <a:ea typeface="+mn-lt"/>
                <a:cs typeface="+mn-lt"/>
              </a:rPr>
              <a:t>For Collaborative Filtering &amp; Music Recommendation:</a:t>
            </a:r>
            <a:endParaRPr lang="en-US" sz="1200">
              <a:latin typeface="Aptos"/>
            </a:endParaRPr>
          </a:p>
          <a:p>
            <a:pPr marL="285750" indent="-285750">
              <a:buFont typeface="Arial"/>
              <a:buChar char="•"/>
            </a:pPr>
            <a:r>
              <a:rPr lang="en-US" sz="1200" err="1">
                <a:solidFill>
                  <a:srgbClr val="D7D4CC"/>
                </a:solidFill>
                <a:latin typeface="Aptos"/>
                <a:ea typeface="+mn-lt"/>
                <a:cs typeface="+mn-lt"/>
              </a:rPr>
              <a:t>Schedl</a:t>
            </a:r>
            <a:r>
              <a:rPr lang="en-US" sz="1200">
                <a:solidFill>
                  <a:srgbClr val="D7D4CC"/>
                </a:solidFill>
                <a:latin typeface="Aptos"/>
                <a:ea typeface="+mn-lt"/>
                <a:cs typeface="+mn-lt"/>
              </a:rPr>
              <a:t> et al. (2018) - "Current Challenges and Visions in Music Recommender Systems Research"</a:t>
            </a:r>
            <a:endParaRPr lang="en-US" sz="1200">
              <a:latin typeface="Aptos"/>
            </a:endParaRPr>
          </a:p>
          <a:p>
            <a:pPr marL="285750" indent="-285750">
              <a:buFont typeface="Arial"/>
              <a:buChar char="•"/>
            </a:pPr>
            <a:endParaRPr lang="en-US" sz="1200">
              <a:solidFill>
                <a:srgbClr val="D7D4CC"/>
              </a:solidFill>
              <a:latin typeface="Aptos"/>
            </a:endParaRPr>
          </a:p>
          <a:p>
            <a:r>
              <a:rPr lang="en-US" sz="1200" b="1">
                <a:solidFill>
                  <a:srgbClr val="D7D4CC"/>
                </a:solidFill>
                <a:latin typeface="Aptos"/>
                <a:ea typeface="+mn-lt"/>
                <a:cs typeface="+mn-lt"/>
              </a:rPr>
              <a:t>For Hit Song Prediction:</a:t>
            </a:r>
            <a:endParaRPr lang="en-US" sz="1200">
              <a:latin typeface="Aptos"/>
            </a:endParaRPr>
          </a:p>
          <a:p>
            <a:pPr marL="285750" indent="-285750">
              <a:buFont typeface="Arial"/>
              <a:buChar char="•"/>
            </a:pPr>
            <a:r>
              <a:rPr lang="en-US" sz="1200" err="1">
                <a:solidFill>
                  <a:srgbClr val="D7D4CC"/>
                </a:solidFill>
                <a:latin typeface="Aptos"/>
                <a:ea typeface="+mn-lt"/>
                <a:cs typeface="+mn-lt"/>
              </a:rPr>
              <a:t>Pachet</a:t>
            </a:r>
            <a:r>
              <a:rPr lang="en-US" sz="1200">
                <a:solidFill>
                  <a:srgbClr val="D7D4CC"/>
                </a:solidFill>
                <a:latin typeface="Aptos"/>
                <a:ea typeface="+mn-lt"/>
                <a:cs typeface="+mn-lt"/>
              </a:rPr>
              <a:t> &amp; Roy (2008) - "Hit Song Science Is Not Yet a Science"</a:t>
            </a:r>
            <a:endParaRPr lang="en-US" sz="1200">
              <a:latin typeface="Aptos"/>
            </a:endParaRPr>
          </a:p>
          <a:p>
            <a:pPr marL="285750" indent="-285750">
              <a:buFont typeface="Arial"/>
              <a:buChar char="•"/>
            </a:pPr>
            <a:endParaRPr lang="en-US" sz="1200">
              <a:solidFill>
                <a:srgbClr val="D7D4CC"/>
              </a:solidFill>
              <a:latin typeface="Aptos"/>
            </a:endParaRPr>
          </a:p>
          <a:p>
            <a:pPr algn="l"/>
            <a:endParaRPr lang="en-US" sz="1000">
              <a:solidFill>
                <a:srgbClr val="D7D4CC"/>
              </a:solidFill>
              <a:latin typeface="Aptos"/>
            </a:endParaRPr>
          </a:p>
          <a:p>
            <a:pPr>
              <a:lnSpc>
                <a:spcPts val="1707"/>
              </a:lnSpc>
            </a:pPr>
            <a:endParaRPr lang="en-US" sz="1000">
              <a:solidFill>
                <a:srgbClr val="D7D4CC"/>
              </a:solidFill>
              <a:latin typeface="Aptos"/>
            </a:endParaRPr>
          </a:p>
        </p:txBody>
      </p:sp>
      <p:sp>
        <p:nvSpPr>
          <p:cNvPr id="11" name="Rectangle 10">
            <a:extLst>
              <a:ext uri="{FF2B5EF4-FFF2-40B4-BE49-F238E27FC236}">
                <a16:creationId xmlns:a16="http://schemas.microsoft.com/office/drawing/2014/main" id="{452DE261-1C91-8299-617C-D8A331608DFF}"/>
              </a:ext>
            </a:extLst>
          </p:cNvPr>
          <p:cNvSpPr/>
          <p:nvPr/>
        </p:nvSpPr>
        <p:spPr>
          <a:xfrm>
            <a:off x="10637721" y="6388688"/>
            <a:ext cx="1463443" cy="373430"/>
          </a:xfrm>
          <a:prstGeom prst="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ack and green circle with a star in it&#10;&#10;AI-generated content may be incorrect.">
            <a:extLst>
              <a:ext uri="{FF2B5EF4-FFF2-40B4-BE49-F238E27FC236}">
                <a16:creationId xmlns:a16="http://schemas.microsoft.com/office/drawing/2014/main" id="{AE8E20BD-C059-2F90-93AC-BA0014B57622}"/>
              </a:ext>
            </a:extLst>
          </p:cNvPr>
          <p:cNvPicPr>
            <a:picLocks noChangeAspect="1"/>
          </p:cNvPicPr>
          <p:nvPr/>
        </p:nvPicPr>
        <p:blipFill>
          <a:blip r:embed="rId3"/>
          <a:stretch>
            <a:fillRect/>
          </a:stretch>
        </p:blipFill>
        <p:spPr>
          <a:xfrm>
            <a:off x="11446563" y="242957"/>
            <a:ext cx="408610" cy="386523"/>
          </a:xfrm>
          <a:prstGeom prst="rect">
            <a:avLst/>
          </a:prstGeom>
        </p:spPr>
      </p:pic>
      <p:pic>
        <p:nvPicPr>
          <p:cNvPr id="10" name="Picture 9" descr="A close up of a button&#10;&#10;AI-generated content may be incorrect.">
            <a:extLst>
              <a:ext uri="{FF2B5EF4-FFF2-40B4-BE49-F238E27FC236}">
                <a16:creationId xmlns:a16="http://schemas.microsoft.com/office/drawing/2014/main" id="{631EEAEB-190E-D3B1-180A-57AB175DB455}"/>
              </a:ext>
            </a:extLst>
          </p:cNvPr>
          <p:cNvPicPr>
            <a:picLocks noChangeAspect="1"/>
          </p:cNvPicPr>
          <p:nvPr/>
        </p:nvPicPr>
        <p:blipFill>
          <a:blip r:embed="rId4"/>
          <a:stretch>
            <a:fillRect/>
          </a:stretch>
        </p:blipFill>
        <p:spPr>
          <a:xfrm>
            <a:off x="3300412" y="5757862"/>
            <a:ext cx="4829175" cy="1009650"/>
          </a:xfrm>
          <a:prstGeom prst="rect">
            <a:avLst/>
          </a:prstGeom>
        </p:spPr>
      </p:pic>
    </p:spTree>
    <p:extLst>
      <p:ext uri="{BB962C8B-B14F-4D97-AF65-F5344CB8AC3E}">
        <p14:creationId xmlns:p14="http://schemas.microsoft.com/office/powerpoint/2010/main" val="3426687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4220" y="321369"/>
            <a:ext cx="4550569" cy="49530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3875"/>
              </a:lnSpc>
            </a:pPr>
            <a:r>
              <a:rPr lang="en-US" sz="3100" b="1">
                <a:solidFill>
                  <a:srgbClr val="00B050"/>
                </a:solidFill>
                <a:ea typeface="+mn-lt"/>
                <a:cs typeface="+mn-lt"/>
              </a:rPr>
              <a:t>Methodology: Dataset</a:t>
            </a:r>
            <a:endParaRPr lang="en-US">
              <a:solidFill>
                <a:srgbClr val="00B050"/>
              </a:solidFill>
            </a:endParaRPr>
          </a:p>
        </p:txBody>
      </p:sp>
      <p:sp>
        <p:nvSpPr>
          <p:cNvPr id="3" name="Text 1"/>
          <p:cNvSpPr/>
          <p:nvPr/>
        </p:nvSpPr>
        <p:spPr>
          <a:xfrm>
            <a:off x="734219" y="923231"/>
            <a:ext cx="10723563" cy="57050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2208"/>
              </a:lnSpc>
            </a:pPr>
            <a:r>
              <a:rPr lang="en-US" sz="1600">
                <a:solidFill>
                  <a:srgbClr val="D7D4CC"/>
                </a:solidFill>
                <a:latin typeface="Aptos"/>
                <a:ea typeface="Raleway Medium" pitchFamily="34" charset="-122"/>
                <a:cs typeface="Raleway Medium" pitchFamily="34" charset="-120"/>
              </a:rPr>
              <a:t>Our project is built on the </a:t>
            </a:r>
            <a:r>
              <a:rPr lang="en-US" sz="1600" b="1" err="1">
                <a:solidFill>
                  <a:srgbClr val="D7D4CC"/>
                </a:solidFill>
                <a:latin typeface="Aptos"/>
                <a:ea typeface="Raleway Medium" pitchFamily="34" charset="-122"/>
                <a:cs typeface="Raleway Medium" pitchFamily="34" charset="-120"/>
              </a:rPr>
              <a:t>SongEval</a:t>
            </a:r>
            <a:r>
              <a:rPr lang="en-US" sz="1600" b="1">
                <a:solidFill>
                  <a:srgbClr val="D7D4CC"/>
                </a:solidFill>
                <a:latin typeface="Aptos"/>
                <a:ea typeface="Raleway Medium" pitchFamily="34" charset="-122"/>
                <a:cs typeface="Raleway Medium" pitchFamily="34" charset="-120"/>
              </a:rPr>
              <a:t> Dataset</a:t>
            </a:r>
            <a:r>
              <a:rPr lang="en-US" sz="1600">
                <a:solidFill>
                  <a:srgbClr val="D7D4CC"/>
                </a:solidFill>
                <a:latin typeface="Aptos"/>
                <a:ea typeface="Raleway Medium" pitchFamily="34" charset="-122"/>
                <a:cs typeface="Raleway Medium" pitchFamily="34" charset="-120"/>
              </a:rPr>
              <a:t>, a comprehensive data collection specifically designed for music perception quality assessment.</a:t>
            </a:r>
            <a:endParaRPr lang="en-US" sz="1600">
              <a:latin typeface="Aptos"/>
            </a:endParaRPr>
          </a:p>
        </p:txBody>
      </p:sp>
      <p:sp>
        <p:nvSpPr>
          <p:cNvPr id="4" name="Text 2"/>
          <p:cNvSpPr/>
          <p:nvPr/>
        </p:nvSpPr>
        <p:spPr>
          <a:xfrm>
            <a:off x="734219" y="1619548"/>
            <a:ext cx="1981398" cy="24765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2000" b="1">
                <a:solidFill>
                  <a:srgbClr val="D7D4CC"/>
                </a:solidFill>
                <a:latin typeface="Aptos"/>
                <a:ea typeface="Comfortaa Bold" pitchFamily="34" charset="-122"/>
                <a:cs typeface="Comfortaa Bold" pitchFamily="34" charset="-120"/>
              </a:rPr>
              <a:t>Dataset Scope</a:t>
            </a:r>
            <a:endParaRPr lang="en-US" sz="2000">
              <a:latin typeface="Aptos"/>
            </a:endParaRPr>
          </a:p>
        </p:txBody>
      </p:sp>
      <p:sp>
        <p:nvSpPr>
          <p:cNvPr id="5" name="Text 3"/>
          <p:cNvSpPr/>
          <p:nvPr/>
        </p:nvSpPr>
        <p:spPr>
          <a:xfrm>
            <a:off x="734219" y="1974157"/>
            <a:ext cx="5250358" cy="57050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1400">
                <a:solidFill>
                  <a:srgbClr val="D7D4CC"/>
                </a:solidFill>
                <a:latin typeface="Aptos"/>
                <a:ea typeface="Raleway Medium" pitchFamily="34" charset="-122"/>
                <a:cs typeface="Raleway Medium" pitchFamily="34" charset="-120"/>
              </a:rPr>
              <a:t>2,399 complete songs spanning approximately 140 hours of audio content across 9 distinct musical genres.</a:t>
            </a:r>
            <a:endParaRPr lang="en-US" sz="1400">
              <a:latin typeface="Aptos"/>
            </a:endParaRPr>
          </a:p>
        </p:txBody>
      </p:sp>
      <p:sp>
        <p:nvSpPr>
          <p:cNvPr id="6" name="Text 4"/>
          <p:cNvSpPr/>
          <p:nvPr/>
        </p:nvSpPr>
        <p:spPr>
          <a:xfrm>
            <a:off x="6207423" y="1619548"/>
            <a:ext cx="2010569" cy="24765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2000" b="1">
                <a:solidFill>
                  <a:srgbClr val="D7D4CC"/>
                </a:solidFill>
                <a:latin typeface="Aptos"/>
                <a:ea typeface="Comfortaa Bold" pitchFamily="34" charset="-122"/>
                <a:cs typeface="Comfortaa Bold" pitchFamily="34" charset="-120"/>
              </a:rPr>
              <a:t>Expert Annotations</a:t>
            </a:r>
            <a:endParaRPr lang="en-US" sz="2000">
              <a:latin typeface="Aptos"/>
            </a:endParaRPr>
          </a:p>
        </p:txBody>
      </p:sp>
      <p:sp>
        <p:nvSpPr>
          <p:cNvPr id="7" name="Text 5"/>
          <p:cNvSpPr/>
          <p:nvPr/>
        </p:nvSpPr>
        <p:spPr>
          <a:xfrm>
            <a:off x="6207423" y="1974157"/>
            <a:ext cx="5250358" cy="57050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2208"/>
              </a:lnSpc>
            </a:pPr>
            <a:r>
              <a:rPr lang="en-US" sz="1400">
                <a:solidFill>
                  <a:srgbClr val="D7D4CC"/>
                </a:solidFill>
                <a:latin typeface="Aptos"/>
                <a:ea typeface="Raleway Medium" pitchFamily="34" charset="-122"/>
                <a:cs typeface="Raleway Medium" pitchFamily="34" charset="-120"/>
              </a:rPr>
              <a:t>16 expert annotators with musical training have rated each song on a 5-point scale, ensuring reliable ground-truth labels.</a:t>
            </a:r>
            <a:endParaRPr lang="en-US" sz="1400">
              <a:latin typeface="Aptos"/>
            </a:endParaRPr>
          </a:p>
        </p:txBody>
      </p:sp>
      <p:sp>
        <p:nvSpPr>
          <p:cNvPr id="8" name="Text 6"/>
          <p:cNvSpPr/>
          <p:nvPr/>
        </p:nvSpPr>
        <p:spPr>
          <a:xfrm>
            <a:off x="734219" y="2693094"/>
            <a:ext cx="3230563" cy="29725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33"/>
              </a:lnSpc>
              <a:buNone/>
            </a:pPr>
            <a:r>
              <a:rPr lang="en-US" sz="2000" b="1">
                <a:solidFill>
                  <a:srgbClr val="00B050"/>
                </a:solidFill>
                <a:latin typeface="Aptos"/>
                <a:ea typeface="Comfortaa Bold" pitchFamily="34" charset="-122"/>
                <a:cs typeface="Comfortaa Bold" pitchFamily="34" charset="-120"/>
              </a:rPr>
              <a:t>Five Aesthetic Dimensions</a:t>
            </a:r>
            <a:endParaRPr lang="en-US" sz="2000">
              <a:solidFill>
                <a:srgbClr val="00B050"/>
              </a:solidFill>
              <a:latin typeface="Aptos"/>
            </a:endParaRPr>
          </a:p>
        </p:txBody>
      </p:sp>
      <p:sp>
        <p:nvSpPr>
          <p:cNvPr id="9" name="Shape 7"/>
          <p:cNvSpPr/>
          <p:nvPr/>
        </p:nvSpPr>
        <p:spPr>
          <a:xfrm>
            <a:off x="734219" y="3257848"/>
            <a:ext cx="10723563" cy="1992908"/>
          </a:xfrm>
          <a:prstGeom prst="roundRect">
            <a:avLst>
              <a:gd name="adj" fmla="val 13423"/>
            </a:avLst>
          </a:prstGeom>
          <a:solidFill>
            <a:srgbClr val="46464A"/>
          </a:solidFill>
          <a:ln/>
        </p:spPr>
      </p:sp>
      <p:sp>
        <p:nvSpPr>
          <p:cNvPr id="10" name="Shape 8"/>
          <p:cNvSpPr/>
          <p:nvPr/>
        </p:nvSpPr>
        <p:spPr>
          <a:xfrm>
            <a:off x="734219" y="3257848"/>
            <a:ext cx="3574455" cy="996454"/>
          </a:xfrm>
          <a:prstGeom prst="roundRect">
            <a:avLst>
              <a:gd name="adj" fmla="val 26845"/>
            </a:avLst>
          </a:prstGeom>
          <a:solidFill>
            <a:srgbClr val="46464A"/>
          </a:solidFill>
          <a:ln/>
        </p:spPr>
      </p:sp>
      <p:sp>
        <p:nvSpPr>
          <p:cNvPr id="11" name="Text 9"/>
          <p:cNvSpPr/>
          <p:nvPr/>
        </p:nvSpPr>
        <p:spPr>
          <a:xfrm>
            <a:off x="912515" y="3436144"/>
            <a:ext cx="1981398" cy="24765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1800" b="1">
                <a:solidFill>
                  <a:srgbClr val="D7D4CC"/>
                </a:solidFill>
                <a:latin typeface="Aptos"/>
                <a:ea typeface="Comfortaa Bold" pitchFamily="34" charset="-122"/>
                <a:cs typeface="Comfortaa Bold" pitchFamily="34" charset="-120"/>
              </a:rPr>
              <a:t>Coherence</a:t>
            </a:r>
            <a:endParaRPr lang="en-US" sz="1800">
              <a:latin typeface="Aptos"/>
            </a:endParaRPr>
          </a:p>
        </p:txBody>
      </p:sp>
      <p:sp>
        <p:nvSpPr>
          <p:cNvPr id="12" name="Text 10"/>
          <p:cNvSpPr/>
          <p:nvPr/>
        </p:nvSpPr>
        <p:spPr>
          <a:xfrm>
            <a:off x="912515" y="3790752"/>
            <a:ext cx="3217863" cy="28525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1600">
                <a:solidFill>
                  <a:srgbClr val="D7D4CC"/>
                </a:solidFill>
                <a:latin typeface="Aptos"/>
                <a:ea typeface="Raleway Medium" pitchFamily="34" charset="-122"/>
                <a:cs typeface="Raleway Medium" pitchFamily="34" charset="-120"/>
              </a:rPr>
              <a:t>Structural unity and flow</a:t>
            </a:r>
            <a:endParaRPr lang="en-US" sz="1600">
              <a:latin typeface="Aptos"/>
            </a:endParaRPr>
          </a:p>
        </p:txBody>
      </p:sp>
      <p:sp>
        <p:nvSpPr>
          <p:cNvPr id="13" name="Shape 11"/>
          <p:cNvSpPr/>
          <p:nvPr/>
        </p:nvSpPr>
        <p:spPr>
          <a:xfrm>
            <a:off x="4308674" y="3257848"/>
            <a:ext cx="3574554" cy="996454"/>
          </a:xfrm>
          <a:prstGeom prst="rect">
            <a:avLst/>
          </a:prstGeom>
          <a:solidFill>
            <a:srgbClr val="46464A"/>
          </a:solidFill>
          <a:ln/>
        </p:spPr>
      </p:sp>
      <p:sp>
        <p:nvSpPr>
          <p:cNvPr id="14" name="Shape 12"/>
          <p:cNvSpPr/>
          <p:nvPr/>
        </p:nvSpPr>
        <p:spPr>
          <a:xfrm>
            <a:off x="4308673" y="3257848"/>
            <a:ext cx="25400" cy="996454"/>
          </a:xfrm>
          <a:prstGeom prst="roundRect">
            <a:avLst>
              <a:gd name="adj" fmla="val 1053156"/>
            </a:avLst>
          </a:prstGeom>
          <a:solidFill>
            <a:srgbClr val="5F5F63"/>
          </a:solidFill>
          <a:ln/>
        </p:spPr>
      </p:sp>
      <p:sp>
        <p:nvSpPr>
          <p:cNvPr id="15" name="Text 13"/>
          <p:cNvSpPr/>
          <p:nvPr/>
        </p:nvSpPr>
        <p:spPr>
          <a:xfrm>
            <a:off x="4486969" y="3436144"/>
            <a:ext cx="1981398" cy="24765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1800" b="1">
                <a:solidFill>
                  <a:srgbClr val="D7D4CC"/>
                </a:solidFill>
                <a:latin typeface="Aptos"/>
                <a:ea typeface="Comfortaa Bold" pitchFamily="34" charset="-122"/>
                <a:cs typeface="Comfortaa Bold" pitchFamily="34" charset="-120"/>
              </a:rPr>
              <a:t>Musicality</a:t>
            </a:r>
            <a:endParaRPr lang="en-US" sz="1800">
              <a:latin typeface="Aptos"/>
            </a:endParaRPr>
          </a:p>
        </p:txBody>
      </p:sp>
      <p:sp>
        <p:nvSpPr>
          <p:cNvPr id="16" name="Text 14"/>
          <p:cNvSpPr/>
          <p:nvPr/>
        </p:nvSpPr>
        <p:spPr>
          <a:xfrm>
            <a:off x="4486969" y="3790752"/>
            <a:ext cx="3217962" cy="28525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1600">
                <a:solidFill>
                  <a:srgbClr val="D7D4CC"/>
                </a:solidFill>
                <a:latin typeface="Aptos"/>
                <a:ea typeface="Raleway Medium" pitchFamily="34" charset="-122"/>
                <a:cs typeface="Raleway Medium" pitchFamily="34" charset="-120"/>
              </a:rPr>
              <a:t>Melody &amp; harmony quality</a:t>
            </a:r>
            <a:endParaRPr lang="en-US" sz="1600">
              <a:latin typeface="Aptos"/>
            </a:endParaRPr>
          </a:p>
        </p:txBody>
      </p:sp>
      <p:sp>
        <p:nvSpPr>
          <p:cNvPr id="17" name="Shape 15"/>
          <p:cNvSpPr/>
          <p:nvPr/>
        </p:nvSpPr>
        <p:spPr>
          <a:xfrm>
            <a:off x="7883228" y="3257848"/>
            <a:ext cx="3574455" cy="996454"/>
          </a:xfrm>
          <a:prstGeom prst="rect">
            <a:avLst/>
          </a:prstGeom>
          <a:solidFill>
            <a:srgbClr val="46464A"/>
          </a:solidFill>
          <a:ln/>
        </p:spPr>
      </p:sp>
      <p:sp>
        <p:nvSpPr>
          <p:cNvPr id="18" name="Shape 16"/>
          <p:cNvSpPr/>
          <p:nvPr/>
        </p:nvSpPr>
        <p:spPr>
          <a:xfrm>
            <a:off x="7883228" y="3257848"/>
            <a:ext cx="25400" cy="996454"/>
          </a:xfrm>
          <a:prstGeom prst="roundRect">
            <a:avLst>
              <a:gd name="adj" fmla="val 1053156"/>
            </a:avLst>
          </a:prstGeom>
          <a:solidFill>
            <a:srgbClr val="5F5F63"/>
          </a:solidFill>
          <a:ln/>
        </p:spPr>
      </p:sp>
      <p:sp>
        <p:nvSpPr>
          <p:cNvPr id="19" name="Text 17"/>
          <p:cNvSpPr/>
          <p:nvPr/>
        </p:nvSpPr>
        <p:spPr>
          <a:xfrm>
            <a:off x="8061524" y="3436144"/>
            <a:ext cx="1981398" cy="24765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1800" b="1">
                <a:solidFill>
                  <a:srgbClr val="D7D4CC"/>
                </a:solidFill>
                <a:latin typeface="Aptos"/>
                <a:ea typeface="Comfortaa Bold" pitchFamily="34" charset="-122"/>
                <a:cs typeface="Comfortaa Bold" pitchFamily="34" charset="-120"/>
              </a:rPr>
              <a:t>Memorability</a:t>
            </a:r>
            <a:endParaRPr lang="en-US" sz="1800">
              <a:latin typeface="Aptos"/>
            </a:endParaRPr>
          </a:p>
        </p:txBody>
      </p:sp>
      <p:sp>
        <p:nvSpPr>
          <p:cNvPr id="20" name="Text 18"/>
          <p:cNvSpPr/>
          <p:nvPr/>
        </p:nvSpPr>
        <p:spPr>
          <a:xfrm>
            <a:off x="8061524" y="3790752"/>
            <a:ext cx="3217863" cy="28525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1600">
                <a:solidFill>
                  <a:srgbClr val="D7D4CC"/>
                </a:solidFill>
                <a:latin typeface="Aptos"/>
                <a:ea typeface="Raleway Medium" pitchFamily="34" charset="-122"/>
                <a:cs typeface="Raleway Medium" pitchFamily="34" charset="-120"/>
              </a:rPr>
              <a:t>Catchiness &amp; recall</a:t>
            </a:r>
            <a:endParaRPr lang="en-US" sz="1600">
              <a:latin typeface="Aptos"/>
            </a:endParaRPr>
          </a:p>
        </p:txBody>
      </p:sp>
      <p:sp>
        <p:nvSpPr>
          <p:cNvPr id="21" name="Shape 19"/>
          <p:cNvSpPr/>
          <p:nvPr/>
        </p:nvSpPr>
        <p:spPr>
          <a:xfrm>
            <a:off x="734219" y="4254303"/>
            <a:ext cx="5361682" cy="996454"/>
          </a:xfrm>
          <a:prstGeom prst="rect">
            <a:avLst/>
          </a:prstGeom>
          <a:solidFill>
            <a:srgbClr val="46464A"/>
          </a:solidFill>
          <a:ln/>
        </p:spPr>
      </p:sp>
      <p:sp>
        <p:nvSpPr>
          <p:cNvPr id="22" name="Shape 20"/>
          <p:cNvSpPr/>
          <p:nvPr/>
        </p:nvSpPr>
        <p:spPr>
          <a:xfrm>
            <a:off x="734219" y="4254301"/>
            <a:ext cx="5361682" cy="25400"/>
          </a:xfrm>
          <a:prstGeom prst="roundRect">
            <a:avLst>
              <a:gd name="adj" fmla="val 1053156"/>
            </a:avLst>
          </a:prstGeom>
          <a:solidFill>
            <a:srgbClr val="5F5F63"/>
          </a:solidFill>
          <a:ln/>
        </p:spPr>
      </p:sp>
      <p:sp>
        <p:nvSpPr>
          <p:cNvPr id="23" name="Text 21"/>
          <p:cNvSpPr/>
          <p:nvPr/>
        </p:nvSpPr>
        <p:spPr>
          <a:xfrm>
            <a:off x="912515" y="4432597"/>
            <a:ext cx="1981398" cy="24765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1800" b="1">
                <a:solidFill>
                  <a:srgbClr val="D7D4CC"/>
                </a:solidFill>
                <a:latin typeface="Aptos"/>
                <a:ea typeface="Comfortaa Bold"/>
                <a:cs typeface="Comfortaa Bold" pitchFamily="34" charset="-120"/>
              </a:rPr>
              <a:t>Clarity</a:t>
            </a:r>
            <a:endParaRPr lang="en-US" sz="1800">
              <a:latin typeface="Aptos"/>
              <a:ea typeface="Comfortaa Bold"/>
            </a:endParaRPr>
          </a:p>
        </p:txBody>
      </p:sp>
      <p:sp>
        <p:nvSpPr>
          <p:cNvPr id="24" name="Text 22"/>
          <p:cNvSpPr/>
          <p:nvPr/>
        </p:nvSpPr>
        <p:spPr>
          <a:xfrm>
            <a:off x="912515" y="4787207"/>
            <a:ext cx="5005090" cy="28525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1600">
                <a:solidFill>
                  <a:srgbClr val="D7D4CC"/>
                </a:solidFill>
                <a:latin typeface="Aptos"/>
                <a:ea typeface="Raleway Medium" pitchFamily="34" charset="-122"/>
                <a:cs typeface="Raleway Medium" pitchFamily="34" charset="-120"/>
              </a:rPr>
              <a:t>Section distinctness</a:t>
            </a:r>
            <a:endParaRPr lang="en-US" sz="1600">
              <a:latin typeface="Aptos"/>
            </a:endParaRPr>
          </a:p>
        </p:txBody>
      </p:sp>
      <p:sp>
        <p:nvSpPr>
          <p:cNvPr id="25" name="Shape 23"/>
          <p:cNvSpPr/>
          <p:nvPr/>
        </p:nvSpPr>
        <p:spPr>
          <a:xfrm>
            <a:off x="6095901" y="4254303"/>
            <a:ext cx="5361782" cy="996454"/>
          </a:xfrm>
          <a:prstGeom prst="rect">
            <a:avLst/>
          </a:prstGeom>
          <a:solidFill>
            <a:srgbClr val="46464A"/>
          </a:solidFill>
          <a:ln/>
        </p:spPr>
      </p:sp>
      <p:sp>
        <p:nvSpPr>
          <p:cNvPr id="26" name="Shape 24"/>
          <p:cNvSpPr/>
          <p:nvPr/>
        </p:nvSpPr>
        <p:spPr>
          <a:xfrm>
            <a:off x="6095901" y="4254303"/>
            <a:ext cx="25400" cy="996454"/>
          </a:xfrm>
          <a:prstGeom prst="roundRect">
            <a:avLst>
              <a:gd name="adj" fmla="val 1053156"/>
            </a:avLst>
          </a:prstGeom>
          <a:solidFill>
            <a:srgbClr val="5F5F63"/>
          </a:solidFill>
          <a:ln/>
        </p:spPr>
      </p:sp>
      <p:sp>
        <p:nvSpPr>
          <p:cNvPr id="27" name="Shape 25"/>
          <p:cNvSpPr/>
          <p:nvPr/>
        </p:nvSpPr>
        <p:spPr>
          <a:xfrm>
            <a:off x="6095901" y="4254301"/>
            <a:ext cx="5361782" cy="25400"/>
          </a:xfrm>
          <a:prstGeom prst="roundRect">
            <a:avLst>
              <a:gd name="adj" fmla="val 1053156"/>
            </a:avLst>
          </a:prstGeom>
          <a:solidFill>
            <a:srgbClr val="5F5F63"/>
          </a:solidFill>
          <a:ln/>
        </p:spPr>
      </p:sp>
      <p:sp>
        <p:nvSpPr>
          <p:cNvPr id="28" name="Text 26"/>
          <p:cNvSpPr/>
          <p:nvPr/>
        </p:nvSpPr>
        <p:spPr>
          <a:xfrm>
            <a:off x="6274197" y="4432597"/>
            <a:ext cx="1981398" cy="24765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1800" b="1">
                <a:solidFill>
                  <a:srgbClr val="D7D4CC"/>
                </a:solidFill>
                <a:latin typeface="Aptos"/>
                <a:ea typeface="Comfortaa Bold" pitchFamily="34" charset="-122"/>
                <a:cs typeface="Comfortaa Bold" pitchFamily="34" charset="-120"/>
              </a:rPr>
              <a:t>Naturalness</a:t>
            </a:r>
            <a:endParaRPr lang="en-US" sz="1800">
              <a:latin typeface="Aptos"/>
            </a:endParaRPr>
          </a:p>
        </p:txBody>
      </p:sp>
      <p:sp>
        <p:nvSpPr>
          <p:cNvPr id="29" name="Text 27"/>
          <p:cNvSpPr/>
          <p:nvPr/>
        </p:nvSpPr>
        <p:spPr>
          <a:xfrm>
            <a:off x="6274197" y="4787207"/>
            <a:ext cx="5005189" cy="28525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1600">
                <a:solidFill>
                  <a:srgbClr val="D7D4CC"/>
                </a:solidFill>
                <a:latin typeface="Aptos"/>
                <a:ea typeface="Raleway Medium" pitchFamily="34" charset="-122"/>
                <a:cs typeface="Raleway Medium" pitchFamily="34" charset="-120"/>
              </a:rPr>
              <a:t>Vocal realism</a:t>
            </a:r>
            <a:endParaRPr lang="en-US" sz="1600">
              <a:latin typeface="Aptos"/>
            </a:endParaRPr>
          </a:p>
        </p:txBody>
      </p:sp>
      <p:sp>
        <p:nvSpPr>
          <p:cNvPr id="31" name="Rectangle 30">
            <a:extLst>
              <a:ext uri="{FF2B5EF4-FFF2-40B4-BE49-F238E27FC236}">
                <a16:creationId xmlns:a16="http://schemas.microsoft.com/office/drawing/2014/main" id="{43CF66C8-14CF-96A3-1668-C11E5E657F49}"/>
              </a:ext>
            </a:extLst>
          </p:cNvPr>
          <p:cNvSpPr/>
          <p:nvPr/>
        </p:nvSpPr>
        <p:spPr>
          <a:xfrm>
            <a:off x="10637721" y="6388688"/>
            <a:ext cx="1463443" cy="373430"/>
          </a:xfrm>
          <a:prstGeom prst="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descr="A black and green circle with a star in it&#10;&#10;AI-generated content may be incorrect.">
            <a:extLst>
              <a:ext uri="{FF2B5EF4-FFF2-40B4-BE49-F238E27FC236}">
                <a16:creationId xmlns:a16="http://schemas.microsoft.com/office/drawing/2014/main" id="{C3D0E85E-D047-E02A-4010-0482DCC129B6}"/>
              </a:ext>
            </a:extLst>
          </p:cNvPr>
          <p:cNvPicPr>
            <a:picLocks noChangeAspect="1"/>
          </p:cNvPicPr>
          <p:nvPr/>
        </p:nvPicPr>
        <p:blipFill>
          <a:blip r:embed="rId3"/>
          <a:stretch>
            <a:fillRect/>
          </a:stretch>
        </p:blipFill>
        <p:spPr>
          <a:xfrm>
            <a:off x="11446563" y="242957"/>
            <a:ext cx="408610" cy="386523"/>
          </a:xfrm>
          <a:prstGeom prst="rect">
            <a:avLst/>
          </a:prstGeom>
        </p:spPr>
      </p:pic>
      <p:pic>
        <p:nvPicPr>
          <p:cNvPr id="30" name="Picture 29">
            <a:extLst>
              <a:ext uri="{FF2B5EF4-FFF2-40B4-BE49-F238E27FC236}">
                <a16:creationId xmlns:a16="http://schemas.microsoft.com/office/drawing/2014/main" id="{236C6C21-3592-F2A6-A07A-A56E6BFDC512}"/>
              </a:ext>
            </a:extLst>
          </p:cNvPr>
          <p:cNvPicPr>
            <a:picLocks noChangeAspect="1"/>
          </p:cNvPicPr>
          <p:nvPr/>
        </p:nvPicPr>
        <p:blipFill>
          <a:blip r:embed="rId4"/>
          <a:stretch>
            <a:fillRect/>
          </a:stretch>
        </p:blipFill>
        <p:spPr>
          <a:xfrm>
            <a:off x="3224213" y="5712619"/>
            <a:ext cx="4933950" cy="1028700"/>
          </a:xfrm>
          <a:prstGeom prst="rect">
            <a:avLst/>
          </a:prstGeom>
        </p:spPr>
      </p:pic>
    </p:spTree>
    <p:extLst>
      <p:ext uri="{BB962C8B-B14F-4D97-AF65-F5344CB8AC3E}">
        <p14:creationId xmlns:p14="http://schemas.microsoft.com/office/powerpoint/2010/main" val="3714309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A93C3-829F-E04B-C226-5B15A8B4269A}"/>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5977B771-5D33-A251-1F0F-2CB2D731FD06}"/>
              </a:ext>
            </a:extLst>
          </p:cNvPr>
          <p:cNvSpPr/>
          <p:nvPr/>
        </p:nvSpPr>
        <p:spPr>
          <a:xfrm>
            <a:off x="10637721" y="6388688"/>
            <a:ext cx="1463443" cy="373430"/>
          </a:xfrm>
          <a:prstGeom prst="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descr="A black and green circle with a star in it&#10;&#10;AI-generated content may be incorrect.">
            <a:extLst>
              <a:ext uri="{FF2B5EF4-FFF2-40B4-BE49-F238E27FC236}">
                <a16:creationId xmlns:a16="http://schemas.microsoft.com/office/drawing/2014/main" id="{4ADC78B1-3A2F-42A5-9556-AEBC33C5FB08}"/>
              </a:ext>
            </a:extLst>
          </p:cNvPr>
          <p:cNvPicPr>
            <a:picLocks noChangeAspect="1"/>
          </p:cNvPicPr>
          <p:nvPr/>
        </p:nvPicPr>
        <p:blipFill>
          <a:blip r:embed="rId3"/>
          <a:stretch>
            <a:fillRect/>
          </a:stretch>
        </p:blipFill>
        <p:spPr>
          <a:xfrm>
            <a:off x="11446563" y="242957"/>
            <a:ext cx="408610" cy="386523"/>
          </a:xfrm>
          <a:prstGeom prst="rect">
            <a:avLst/>
          </a:prstGeom>
        </p:spPr>
      </p:pic>
      <p:pic>
        <p:nvPicPr>
          <p:cNvPr id="33" name="Picture 32" descr="SongEval">
            <a:extLst>
              <a:ext uri="{FF2B5EF4-FFF2-40B4-BE49-F238E27FC236}">
                <a16:creationId xmlns:a16="http://schemas.microsoft.com/office/drawing/2014/main" id="{8E31F752-BDBB-E161-3F1B-41243CDFEE93}"/>
              </a:ext>
            </a:extLst>
          </p:cNvPr>
          <p:cNvPicPr>
            <a:picLocks noChangeAspect="1"/>
          </p:cNvPicPr>
          <p:nvPr/>
        </p:nvPicPr>
        <p:blipFill>
          <a:blip r:embed="rId4"/>
          <a:stretch>
            <a:fillRect/>
          </a:stretch>
        </p:blipFill>
        <p:spPr>
          <a:xfrm>
            <a:off x="446313" y="1866086"/>
            <a:ext cx="5965370" cy="3387084"/>
          </a:xfrm>
          <a:prstGeom prst="rect">
            <a:avLst/>
          </a:prstGeom>
        </p:spPr>
      </p:pic>
      <p:pic>
        <p:nvPicPr>
          <p:cNvPr id="35" name="Picture 34" descr="A screenshot of a computer&#10;&#10;AI-generated content may be incorrect.">
            <a:extLst>
              <a:ext uri="{FF2B5EF4-FFF2-40B4-BE49-F238E27FC236}">
                <a16:creationId xmlns:a16="http://schemas.microsoft.com/office/drawing/2014/main" id="{1DE85C4F-AE7D-12AA-8459-DFA96C281347}"/>
              </a:ext>
            </a:extLst>
          </p:cNvPr>
          <p:cNvPicPr>
            <a:picLocks noChangeAspect="1"/>
          </p:cNvPicPr>
          <p:nvPr/>
        </p:nvPicPr>
        <p:blipFill>
          <a:blip r:embed="rId5"/>
          <a:stretch>
            <a:fillRect/>
          </a:stretch>
        </p:blipFill>
        <p:spPr>
          <a:xfrm>
            <a:off x="6877395" y="1615753"/>
            <a:ext cx="4495800" cy="3895725"/>
          </a:xfrm>
          <a:prstGeom prst="rect">
            <a:avLst/>
          </a:prstGeom>
        </p:spPr>
      </p:pic>
      <p:sp>
        <p:nvSpPr>
          <p:cNvPr id="37" name="Text 0">
            <a:extLst>
              <a:ext uri="{FF2B5EF4-FFF2-40B4-BE49-F238E27FC236}">
                <a16:creationId xmlns:a16="http://schemas.microsoft.com/office/drawing/2014/main" id="{977338FB-F710-0C83-7058-780490D3B54C}"/>
              </a:ext>
            </a:extLst>
          </p:cNvPr>
          <p:cNvSpPr/>
          <p:nvPr/>
        </p:nvSpPr>
        <p:spPr>
          <a:xfrm>
            <a:off x="451191" y="637055"/>
            <a:ext cx="4550569" cy="49530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3875"/>
              </a:lnSpc>
            </a:pPr>
            <a:r>
              <a:rPr lang="en-US" sz="3100" b="1" dirty="0">
                <a:solidFill>
                  <a:srgbClr val="00B050"/>
                </a:solidFill>
              </a:rPr>
              <a:t>One row looks like:-</a:t>
            </a:r>
            <a:endParaRPr lang="en-US" dirty="0"/>
          </a:p>
        </p:txBody>
      </p:sp>
      <p:pic>
        <p:nvPicPr>
          <p:cNvPr id="39" name="Picture 38" descr="A white and green line with a green circle and a white line with a green circle and a white circle with a white line and a green circle with a white line and a white circle with a&#10;&#10;AI-generated content may be incorrect.">
            <a:extLst>
              <a:ext uri="{FF2B5EF4-FFF2-40B4-BE49-F238E27FC236}">
                <a16:creationId xmlns:a16="http://schemas.microsoft.com/office/drawing/2014/main" id="{25593726-9698-3A0C-88C2-A22AAB6A8443}"/>
              </a:ext>
            </a:extLst>
          </p:cNvPr>
          <p:cNvPicPr>
            <a:picLocks noChangeAspect="1"/>
          </p:cNvPicPr>
          <p:nvPr/>
        </p:nvPicPr>
        <p:blipFill>
          <a:blip r:embed="rId6"/>
          <a:stretch>
            <a:fillRect/>
          </a:stretch>
        </p:blipFill>
        <p:spPr>
          <a:xfrm>
            <a:off x="3224213" y="5712619"/>
            <a:ext cx="4933950" cy="1028700"/>
          </a:xfrm>
          <a:prstGeom prst="rect">
            <a:avLst/>
          </a:prstGeom>
        </p:spPr>
      </p:pic>
    </p:spTree>
    <p:extLst>
      <p:ext uri="{BB962C8B-B14F-4D97-AF65-F5344CB8AC3E}">
        <p14:creationId xmlns:p14="http://schemas.microsoft.com/office/powerpoint/2010/main" val="818824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4219" y="900212"/>
            <a:ext cx="5316438" cy="37871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958"/>
              </a:lnSpc>
              <a:buNone/>
            </a:pPr>
            <a:r>
              <a:rPr lang="en-US" sz="3100" b="1">
                <a:solidFill>
                  <a:srgbClr val="00B050"/>
                </a:solidFill>
                <a:ea typeface="+mn-lt"/>
                <a:cs typeface="+mn-lt"/>
              </a:rPr>
              <a:t>Methodology: Processing Pipeline</a:t>
            </a:r>
            <a:endParaRPr lang="en-US" sz="3100">
              <a:solidFill>
                <a:srgbClr val="00B050"/>
              </a:solidFill>
              <a:ea typeface="+mn-lt"/>
              <a:cs typeface="+mn-lt"/>
            </a:endParaRPr>
          </a:p>
        </p:txBody>
      </p:sp>
      <p:sp>
        <p:nvSpPr>
          <p:cNvPr id="3" name="Text 1"/>
          <p:cNvSpPr/>
          <p:nvPr/>
        </p:nvSpPr>
        <p:spPr>
          <a:xfrm>
            <a:off x="734219" y="1502737"/>
            <a:ext cx="10723563"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r>
              <a:rPr lang="en-US" sz="1600">
                <a:solidFill>
                  <a:srgbClr val="D7D4CC"/>
                </a:solidFill>
                <a:latin typeface="Aptos"/>
                <a:ea typeface="Raleway Medium" pitchFamily="34" charset="-122"/>
                <a:cs typeface="Raleway Medium" pitchFamily="34" charset="-120"/>
              </a:rPr>
              <a:t>We employ a systematic 4-step pipeline to transform raw audio into aesthetic quality predictions.</a:t>
            </a:r>
            <a:endParaRPr lang="en-US" sz="1600">
              <a:latin typeface="Aptos"/>
            </a:endParaRPr>
          </a:p>
        </p:txBody>
      </p:sp>
      <p:pic>
        <p:nvPicPr>
          <p:cNvPr id="4" name="Image 0" descr="preencoded.png"/>
          <p:cNvPicPr>
            <a:picLocks noChangeAspect="1"/>
          </p:cNvPicPr>
          <p:nvPr/>
        </p:nvPicPr>
        <p:blipFill>
          <a:blip r:embed="rId3"/>
          <a:stretch>
            <a:fillRect/>
          </a:stretch>
        </p:blipFill>
        <p:spPr>
          <a:xfrm>
            <a:off x="734219" y="2304058"/>
            <a:ext cx="681832" cy="818158"/>
          </a:xfrm>
          <a:prstGeom prst="rect">
            <a:avLst/>
          </a:prstGeom>
        </p:spPr>
      </p:pic>
      <p:sp>
        <p:nvSpPr>
          <p:cNvPr id="5" name="Text 2"/>
          <p:cNvSpPr/>
          <p:nvPr/>
        </p:nvSpPr>
        <p:spPr>
          <a:xfrm>
            <a:off x="1580952" y="2449910"/>
            <a:ext cx="1496119" cy="23693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458"/>
              </a:lnSpc>
            </a:pPr>
            <a:r>
              <a:rPr lang="en-US" sz="2000" b="1">
                <a:solidFill>
                  <a:srgbClr val="D7D4CC"/>
                </a:solidFill>
                <a:latin typeface="Aptos"/>
                <a:ea typeface="Comfortaa Bold"/>
              </a:rPr>
              <a:t>Source Separation</a:t>
            </a:r>
            <a:endParaRPr lang="en-US" sz="2000">
              <a:latin typeface="Aptos"/>
              <a:ea typeface="Comfortaa Bold"/>
            </a:endParaRPr>
          </a:p>
        </p:txBody>
      </p:sp>
      <p:sp>
        <p:nvSpPr>
          <p:cNvPr id="6" name="Text 3"/>
          <p:cNvSpPr/>
          <p:nvPr/>
        </p:nvSpPr>
        <p:spPr>
          <a:xfrm>
            <a:off x="1552377" y="2711450"/>
            <a:ext cx="990540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708"/>
              </a:lnSpc>
            </a:pPr>
            <a:r>
              <a:rPr lang="en-US" sz="1200">
                <a:solidFill>
                  <a:srgbClr val="D7D4CC"/>
                </a:solidFill>
                <a:latin typeface="Aptos"/>
                <a:ea typeface="Raleway Medium" pitchFamily="34" charset="-122"/>
                <a:cs typeface="Raleway Medium" pitchFamily="34" charset="-120"/>
              </a:rPr>
              <a:t>Decompose the audio into vocals, accompaniment, harmonic, and percussive tracks for focused analysis using libraries like </a:t>
            </a:r>
            <a:r>
              <a:rPr lang="en-US" sz="1200" err="1">
                <a:solidFill>
                  <a:srgbClr val="D7D4CC"/>
                </a:solidFill>
                <a:latin typeface="Aptos"/>
                <a:ea typeface="Raleway Medium" pitchFamily="34" charset="-122"/>
                <a:cs typeface="Raleway Medium" pitchFamily="34" charset="-120"/>
              </a:rPr>
              <a:t>Spleeter</a:t>
            </a:r>
            <a:r>
              <a:rPr lang="en-US" sz="1200">
                <a:solidFill>
                  <a:srgbClr val="D7D4CC"/>
                </a:solidFill>
                <a:latin typeface="Aptos"/>
                <a:ea typeface="Raleway Medium" pitchFamily="34" charset="-122"/>
                <a:cs typeface="Raleway Medium" pitchFamily="34" charset="-120"/>
              </a:rPr>
              <a:t> and </a:t>
            </a:r>
            <a:r>
              <a:rPr lang="en-US" sz="1200" err="1">
                <a:solidFill>
                  <a:srgbClr val="D7D4CC"/>
                </a:solidFill>
                <a:latin typeface="Aptos"/>
                <a:ea typeface="Raleway Medium" pitchFamily="34" charset="-122"/>
                <a:cs typeface="Raleway Medium" pitchFamily="34" charset="-120"/>
              </a:rPr>
              <a:t>librosa</a:t>
            </a:r>
            <a:r>
              <a:rPr lang="en-US" sz="1200">
                <a:solidFill>
                  <a:srgbClr val="D7D4CC"/>
                </a:solidFill>
                <a:latin typeface="Aptos"/>
                <a:ea typeface="Raleway Medium" pitchFamily="34" charset="-122"/>
                <a:cs typeface="Raleway Medium" pitchFamily="34" charset="-120"/>
              </a:rPr>
              <a:t>.</a:t>
            </a:r>
            <a:endParaRPr lang="en-US" sz="1200">
              <a:solidFill>
                <a:srgbClr val="D7D4CC"/>
              </a:solidFill>
              <a:latin typeface="Aptos"/>
            </a:endParaRPr>
          </a:p>
        </p:txBody>
      </p:sp>
      <p:pic>
        <p:nvPicPr>
          <p:cNvPr id="7" name="Image 1" descr="preencoded.png"/>
          <p:cNvPicPr>
            <a:picLocks noChangeAspect="1"/>
          </p:cNvPicPr>
          <p:nvPr/>
        </p:nvPicPr>
        <p:blipFill>
          <a:blip r:embed="rId4"/>
          <a:stretch>
            <a:fillRect/>
          </a:stretch>
        </p:blipFill>
        <p:spPr>
          <a:xfrm>
            <a:off x="734219" y="3122216"/>
            <a:ext cx="681832" cy="818158"/>
          </a:xfrm>
          <a:prstGeom prst="rect">
            <a:avLst/>
          </a:prstGeom>
        </p:spPr>
      </p:pic>
      <p:sp>
        <p:nvSpPr>
          <p:cNvPr id="8" name="Text 4"/>
          <p:cNvSpPr/>
          <p:nvPr/>
        </p:nvSpPr>
        <p:spPr>
          <a:xfrm>
            <a:off x="1552377" y="3258543"/>
            <a:ext cx="1515169"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458"/>
              </a:lnSpc>
              <a:buNone/>
            </a:pPr>
            <a:r>
              <a:rPr lang="en-US" sz="2000" b="1">
                <a:solidFill>
                  <a:srgbClr val="D7D4CC"/>
                </a:solidFill>
                <a:latin typeface="Aptos"/>
                <a:ea typeface="Comfortaa Bold" pitchFamily="34" charset="-122"/>
                <a:cs typeface="Comfortaa Bold" pitchFamily="34" charset="-120"/>
              </a:rPr>
              <a:t>Feature Extraction</a:t>
            </a:r>
            <a:endParaRPr lang="en-US" sz="2000">
              <a:latin typeface="Aptos"/>
            </a:endParaRPr>
          </a:p>
        </p:txBody>
      </p:sp>
      <p:sp>
        <p:nvSpPr>
          <p:cNvPr id="9" name="Text 5"/>
          <p:cNvSpPr/>
          <p:nvPr/>
        </p:nvSpPr>
        <p:spPr>
          <a:xfrm>
            <a:off x="1552377" y="3529608"/>
            <a:ext cx="990540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708"/>
              </a:lnSpc>
            </a:pPr>
            <a:r>
              <a:rPr lang="en-US" sz="1200">
                <a:solidFill>
                  <a:srgbClr val="D7D4CC"/>
                </a:solidFill>
                <a:latin typeface="Aptos"/>
                <a:ea typeface="Raleway Medium" pitchFamily="34" charset="-122"/>
                <a:cs typeface="Raleway Medium" pitchFamily="34" charset="-120"/>
              </a:rPr>
              <a:t>Extract key acoustic features like MFCCs, Chroma, Spectral Centroid, Zero Crossing Rate from each separated track using specialized libraries.</a:t>
            </a:r>
            <a:endParaRPr lang="en-US" sz="1200">
              <a:latin typeface="Aptos"/>
            </a:endParaRPr>
          </a:p>
        </p:txBody>
      </p:sp>
      <p:pic>
        <p:nvPicPr>
          <p:cNvPr id="10" name="Image 2" descr="preencoded.png"/>
          <p:cNvPicPr>
            <a:picLocks noChangeAspect="1"/>
          </p:cNvPicPr>
          <p:nvPr/>
        </p:nvPicPr>
        <p:blipFill>
          <a:blip r:embed="rId5"/>
          <a:stretch>
            <a:fillRect/>
          </a:stretch>
        </p:blipFill>
        <p:spPr>
          <a:xfrm>
            <a:off x="734219" y="3940374"/>
            <a:ext cx="681832" cy="818158"/>
          </a:xfrm>
          <a:prstGeom prst="rect">
            <a:avLst/>
          </a:prstGeom>
        </p:spPr>
      </p:pic>
      <p:sp>
        <p:nvSpPr>
          <p:cNvPr id="11" name="Text 6"/>
          <p:cNvSpPr/>
          <p:nvPr/>
        </p:nvSpPr>
        <p:spPr>
          <a:xfrm>
            <a:off x="1552377" y="4076701"/>
            <a:ext cx="1515169"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458"/>
              </a:lnSpc>
              <a:buNone/>
            </a:pPr>
            <a:r>
              <a:rPr lang="en-US" sz="2000" b="1">
                <a:solidFill>
                  <a:srgbClr val="D7D4CC"/>
                </a:solidFill>
                <a:latin typeface="Aptos"/>
                <a:ea typeface="Comfortaa Bold" pitchFamily="34" charset="-122"/>
                <a:cs typeface="Comfortaa Bold" pitchFamily="34" charset="-120"/>
              </a:rPr>
              <a:t>Multimodal Fusion</a:t>
            </a:r>
            <a:endParaRPr lang="en-US" sz="2000">
              <a:latin typeface="Aptos"/>
            </a:endParaRPr>
          </a:p>
        </p:txBody>
      </p:sp>
      <p:sp>
        <p:nvSpPr>
          <p:cNvPr id="12" name="Text 7"/>
          <p:cNvSpPr/>
          <p:nvPr/>
        </p:nvSpPr>
        <p:spPr>
          <a:xfrm>
            <a:off x="1552377" y="4347766"/>
            <a:ext cx="990540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r>
              <a:rPr lang="en-US" sz="1200">
                <a:solidFill>
                  <a:srgbClr val="D7D4CC"/>
                </a:solidFill>
                <a:latin typeface="Aptos"/>
                <a:ea typeface="+mn-lt"/>
                <a:cs typeface="+mn-lt"/>
              </a:rPr>
              <a:t>Integrate feature vectors from different sources using early, late, or hybrid fusion, maximizing information from all modalities.</a:t>
            </a:r>
            <a:endParaRPr lang="en-US" sz="1200">
              <a:latin typeface="Aptos"/>
              <a:ea typeface="+mn-lt"/>
              <a:cs typeface="+mn-lt"/>
            </a:endParaRPr>
          </a:p>
          <a:p>
            <a:pPr marL="0" indent="0" algn="l">
              <a:lnSpc>
                <a:spcPts val="1707"/>
              </a:lnSpc>
              <a:buNone/>
            </a:pPr>
            <a:endParaRPr lang="en-US" sz="1000">
              <a:solidFill>
                <a:srgbClr val="D7D4CC"/>
              </a:solidFill>
              <a:latin typeface="Aptos"/>
            </a:endParaRPr>
          </a:p>
        </p:txBody>
      </p:sp>
      <p:pic>
        <p:nvPicPr>
          <p:cNvPr id="13" name="Image 3" descr="preencoded.png"/>
          <p:cNvPicPr>
            <a:picLocks noChangeAspect="1"/>
          </p:cNvPicPr>
          <p:nvPr/>
        </p:nvPicPr>
        <p:blipFill>
          <a:blip r:embed="rId6"/>
          <a:stretch>
            <a:fillRect/>
          </a:stretch>
        </p:blipFill>
        <p:spPr>
          <a:xfrm>
            <a:off x="734219" y="4758532"/>
            <a:ext cx="681832" cy="818158"/>
          </a:xfrm>
          <a:prstGeom prst="rect">
            <a:avLst/>
          </a:prstGeom>
        </p:spPr>
      </p:pic>
      <p:sp>
        <p:nvSpPr>
          <p:cNvPr id="14" name="Text 8"/>
          <p:cNvSpPr/>
          <p:nvPr/>
        </p:nvSpPr>
        <p:spPr>
          <a:xfrm>
            <a:off x="1533327" y="4875808"/>
            <a:ext cx="1515169"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458"/>
              </a:lnSpc>
              <a:buNone/>
            </a:pPr>
            <a:r>
              <a:rPr lang="en-US" sz="2000" b="1">
                <a:solidFill>
                  <a:srgbClr val="D7D4CC"/>
                </a:solidFill>
                <a:latin typeface="Aptos"/>
                <a:ea typeface="Comfortaa Bold" pitchFamily="34" charset="-122"/>
                <a:cs typeface="Comfortaa Bold" pitchFamily="34" charset="-120"/>
              </a:rPr>
              <a:t>Quality Prediction</a:t>
            </a:r>
            <a:endParaRPr lang="en-US" sz="2000">
              <a:latin typeface="Aptos"/>
            </a:endParaRPr>
          </a:p>
        </p:txBody>
      </p:sp>
      <p:sp>
        <p:nvSpPr>
          <p:cNvPr id="15" name="Text 9"/>
          <p:cNvSpPr/>
          <p:nvPr/>
        </p:nvSpPr>
        <p:spPr>
          <a:xfrm>
            <a:off x="1552377" y="5165924"/>
            <a:ext cx="990540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r>
              <a:rPr lang="en-US" sz="1200">
                <a:solidFill>
                  <a:srgbClr val="D7D4CC"/>
                </a:solidFill>
                <a:latin typeface="Aptos"/>
                <a:ea typeface="Raleway Medium" pitchFamily="34" charset="-122"/>
                <a:cs typeface="Raleway Medium" pitchFamily="34" charset="-120"/>
              </a:rPr>
              <a:t>Train regression models to predict the 5 aesthetic ratings using scikit-learn ensemble methods.</a:t>
            </a:r>
            <a:endParaRPr lang="en-US" sz="1200">
              <a:latin typeface="Aptos"/>
            </a:endParaRPr>
          </a:p>
        </p:txBody>
      </p:sp>
      <p:sp>
        <p:nvSpPr>
          <p:cNvPr id="17" name="Rectangle 16">
            <a:extLst>
              <a:ext uri="{FF2B5EF4-FFF2-40B4-BE49-F238E27FC236}">
                <a16:creationId xmlns:a16="http://schemas.microsoft.com/office/drawing/2014/main" id="{1BB3A80B-95BC-4450-0350-9E69C67AB29B}"/>
              </a:ext>
            </a:extLst>
          </p:cNvPr>
          <p:cNvSpPr/>
          <p:nvPr/>
        </p:nvSpPr>
        <p:spPr>
          <a:xfrm>
            <a:off x="10637721" y="6388688"/>
            <a:ext cx="1463443" cy="373430"/>
          </a:xfrm>
          <a:prstGeom prst="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A black and green circle with a star in it&#10;&#10;AI-generated content may be incorrect.">
            <a:extLst>
              <a:ext uri="{FF2B5EF4-FFF2-40B4-BE49-F238E27FC236}">
                <a16:creationId xmlns:a16="http://schemas.microsoft.com/office/drawing/2014/main" id="{40FCC0F1-C625-225A-70BC-25884211869E}"/>
              </a:ext>
            </a:extLst>
          </p:cNvPr>
          <p:cNvPicPr>
            <a:picLocks noChangeAspect="1"/>
          </p:cNvPicPr>
          <p:nvPr/>
        </p:nvPicPr>
        <p:blipFill>
          <a:blip r:embed="rId7"/>
          <a:stretch>
            <a:fillRect/>
          </a:stretch>
        </p:blipFill>
        <p:spPr>
          <a:xfrm>
            <a:off x="11446563" y="242957"/>
            <a:ext cx="408610" cy="386523"/>
          </a:xfrm>
          <a:prstGeom prst="rect">
            <a:avLst/>
          </a:prstGeom>
        </p:spPr>
      </p:pic>
      <p:pic>
        <p:nvPicPr>
          <p:cNvPr id="16" name="Picture 15" descr="A green and white line with a green line and a white circle with a green line and a white circle with a green line and a white circle with a green line and a white circle with a&#10;&#10;AI-generated content may be incorrect.">
            <a:extLst>
              <a:ext uri="{FF2B5EF4-FFF2-40B4-BE49-F238E27FC236}">
                <a16:creationId xmlns:a16="http://schemas.microsoft.com/office/drawing/2014/main" id="{E4EFCDE1-17EA-0C5E-C4AC-72EBF658B8F2}"/>
              </a:ext>
            </a:extLst>
          </p:cNvPr>
          <p:cNvPicPr>
            <a:picLocks noChangeAspect="1"/>
          </p:cNvPicPr>
          <p:nvPr/>
        </p:nvPicPr>
        <p:blipFill>
          <a:blip r:embed="rId8"/>
          <a:stretch>
            <a:fillRect/>
          </a:stretch>
        </p:blipFill>
        <p:spPr>
          <a:xfrm>
            <a:off x="3255169" y="5688806"/>
            <a:ext cx="4943475" cy="1076325"/>
          </a:xfrm>
          <a:prstGeom prst="rect">
            <a:avLst/>
          </a:prstGeom>
        </p:spPr>
      </p:pic>
    </p:spTree>
    <p:extLst>
      <p:ext uri="{BB962C8B-B14F-4D97-AF65-F5344CB8AC3E}">
        <p14:creationId xmlns:p14="http://schemas.microsoft.com/office/powerpoint/2010/main" val="3124790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734220" y="710704"/>
            <a:ext cx="4627364" cy="37871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2958"/>
              </a:lnSpc>
            </a:pPr>
            <a:r>
              <a:rPr lang="en-US" sz="2350" b="1" dirty="0">
                <a:solidFill>
                  <a:srgbClr val="00B050"/>
                </a:solidFill>
                <a:latin typeface="Aptos"/>
                <a:ea typeface="Comfortaa Bold"/>
                <a:cs typeface="Comfortaa Bold" pitchFamily="34" charset="-120"/>
              </a:rPr>
              <a:t>Work Plan – Train – Test Split</a:t>
            </a:r>
            <a:endParaRPr lang="en-US" sz="2350" dirty="0">
              <a:solidFill>
                <a:srgbClr val="00B050"/>
              </a:solidFill>
              <a:latin typeface="Aptos"/>
            </a:endParaRPr>
          </a:p>
        </p:txBody>
      </p:sp>
      <p:sp>
        <p:nvSpPr>
          <p:cNvPr id="4" name="Shape 2"/>
          <p:cNvSpPr/>
          <p:nvPr/>
        </p:nvSpPr>
        <p:spPr>
          <a:xfrm>
            <a:off x="769938" y="1138238"/>
            <a:ext cx="5293618" cy="2138660"/>
          </a:xfrm>
          <a:prstGeom prst="roundRect">
            <a:avLst>
              <a:gd name="adj" fmla="val 9565"/>
            </a:avLst>
          </a:prstGeom>
          <a:solidFill>
            <a:srgbClr val="46464A"/>
          </a:solidFill>
          <a:ln/>
        </p:spPr>
      </p:sp>
      <p:sp>
        <p:nvSpPr>
          <p:cNvPr id="5" name="Shape 3"/>
          <p:cNvSpPr/>
          <p:nvPr/>
        </p:nvSpPr>
        <p:spPr>
          <a:xfrm>
            <a:off x="906265" y="1274565"/>
            <a:ext cx="409079" cy="409079"/>
          </a:xfrm>
          <a:prstGeom prst="roundRect">
            <a:avLst>
              <a:gd name="adj" fmla="val 18625339"/>
            </a:avLst>
          </a:prstGeom>
          <a:solidFill>
            <a:srgbClr val="00B050"/>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8779" y="1387078"/>
            <a:ext cx="184051" cy="184051"/>
          </a:xfrm>
          <a:prstGeom prst="rect">
            <a:avLst/>
          </a:prstGeom>
        </p:spPr>
      </p:pic>
      <p:sp>
        <p:nvSpPr>
          <p:cNvPr id="7" name="Text 4"/>
          <p:cNvSpPr/>
          <p:nvPr/>
        </p:nvSpPr>
        <p:spPr>
          <a:xfrm>
            <a:off x="906265" y="1819969"/>
            <a:ext cx="1515169"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458"/>
              </a:lnSpc>
              <a:buNone/>
            </a:pPr>
            <a:r>
              <a:rPr lang="en-US" sz="2000" b="1">
                <a:solidFill>
                  <a:srgbClr val="00B050"/>
                </a:solidFill>
                <a:latin typeface="Aptos"/>
                <a:ea typeface="Comfortaa Bold"/>
                <a:cs typeface="Comfortaa Bold" pitchFamily="34" charset="-120"/>
              </a:rPr>
              <a:t>Shourya Goyal</a:t>
            </a:r>
            <a:endParaRPr lang="en-US" sz="2000">
              <a:solidFill>
                <a:srgbClr val="00B050"/>
              </a:solidFill>
              <a:latin typeface="Aptos"/>
              <a:ea typeface="Comfortaa Bold"/>
            </a:endParaRPr>
          </a:p>
        </p:txBody>
      </p:sp>
      <p:sp>
        <p:nvSpPr>
          <p:cNvPr id="8" name="Text 5"/>
          <p:cNvSpPr/>
          <p:nvPr/>
        </p:nvSpPr>
        <p:spPr>
          <a:xfrm>
            <a:off x="906264" y="2091036"/>
            <a:ext cx="502096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r>
              <a:rPr lang="en-US" sz="1400">
                <a:solidFill>
                  <a:srgbClr val="D7D4CC"/>
                </a:solidFill>
                <a:latin typeface="Aptos"/>
                <a:ea typeface="Raleway Medium" pitchFamily="34" charset="-122"/>
                <a:cs typeface="Raleway Medium" pitchFamily="34" charset="-120"/>
              </a:rPr>
              <a:t>Data Pipeline &amp; Feature Extraction</a:t>
            </a:r>
            <a:endParaRPr lang="en-US" sz="1400">
              <a:latin typeface="Aptos"/>
            </a:endParaRPr>
          </a:p>
        </p:txBody>
      </p:sp>
      <p:sp>
        <p:nvSpPr>
          <p:cNvPr id="9" name="Text 6"/>
          <p:cNvSpPr/>
          <p:nvPr/>
        </p:nvSpPr>
        <p:spPr>
          <a:xfrm>
            <a:off x="906264" y="2390875"/>
            <a:ext cx="502096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115" indent="-285115">
              <a:lnSpc>
                <a:spcPts val="1708"/>
              </a:lnSpc>
              <a:buSzPct val="100000"/>
              <a:buChar char="•"/>
            </a:pPr>
            <a:r>
              <a:rPr lang="en-US" sz="1400" dirty="0">
                <a:solidFill>
                  <a:srgbClr val="D7D4CC"/>
                </a:solidFill>
                <a:latin typeface="Aptos"/>
                <a:ea typeface="Raleway Medium" pitchFamily="34" charset="-122"/>
                <a:cs typeface="Raleway Medium" pitchFamily="34" charset="-120"/>
              </a:rPr>
              <a:t>Build data loading infrastructure because of the big size</a:t>
            </a:r>
            <a:endParaRPr lang="en-US" sz="1400" dirty="0">
              <a:latin typeface="Aptos"/>
            </a:endParaRPr>
          </a:p>
        </p:txBody>
      </p:sp>
      <p:sp>
        <p:nvSpPr>
          <p:cNvPr id="10" name="Text 7"/>
          <p:cNvSpPr/>
          <p:nvPr/>
        </p:nvSpPr>
        <p:spPr>
          <a:xfrm>
            <a:off x="906264" y="2656681"/>
            <a:ext cx="502096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115" indent="-285115" algn="l">
              <a:lnSpc>
                <a:spcPts val="1708"/>
              </a:lnSpc>
              <a:buSzPct val="100000"/>
              <a:buChar char="•"/>
            </a:pPr>
            <a:r>
              <a:rPr lang="en-US" sz="1400" dirty="0">
                <a:solidFill>
                  <a:srgbClr val="D7D4CC"/>
                </a:solidFill>
                <a:latin typeface="Aptos"/>
                <a:ea typeface="Raleway Medium" pitchFamily="34" charset="-122"/>
                <a:cs typeface="Raleway Medium" pitchFamily="34" charset="-120"/>
              </a:rPr>
              <a:t>Implement feature extraction</a:t>
            </a:r>
            <a:endParaRPr lang="en-US" sz="1400" dirty="0">
              <a:latin typeface="Aptos"/>
            </a:endParaRPr>
          </a:p>
        </p:txBody>
      </p:sp>
      <p:sp>
        <p:nvSpPr>
          <p:cNvPr id="11" name="Text 8"/>
          <p:cNvSpPr/>
          <p:nvPr/>
        </p:nvSpPr>
        <p:spPr>
          <a:xfrm>
            <a:off x="906264" y="2922488"/>
            <a:ext cx="502096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1708"/>
              </a:lnSpc>
              <a:buSzPct val="100000"/>
            </a:pPr>
            <a:endParaRPr lang="en-US" sz="1400">
              <a:solidFill>
                <a:srgbClr val="D7D4CC"/>
              </a:solidFill>
              <a:latin typeface="Aptos"/>
            </a:endParaRPr>
          </a:p>
        </p:txBody>
      </p:sp>
      <p:sp>
        <p:nvSpPr>
          <p:cNvPr id="12" name="Shape 9"/>
          <p:cNvSpPr/>
          <p:nvPr/>
        </p:nvSpPr>
        <p:spPr>
          <a:xfrm>
            <a:off x="6199883" y="1138238"/>
            <a:ext cx="5293618" cy="2138660"/>
          </a:xfrm>
          <a:prstGeom prst="roundRect">
            <a:avLst>
              <a:gd name="adj" fmla="val 9565"/>
            </a:avLst>
          </a:prstGeom>
          <a:solidFill>
            <a:srgbClr val="46464A"/>
          </a:solidFill>
          <a:ln/>
        </p:spPr>
      </p:sp>
      <p:sp>
        <p:nvSpPr>
          <p:cNvPr id="13" name="Shape 10"/>
          <p:cNvSpPr/>
          <p:nvPr/>
        </p:nvSpPr>
        <p:spPr>
          <a:xfrm>
            <a:off x="6336210" y="1274565"/>
            <a:ext cx="409079" cy="409079"/>
          </a:xfrm>
          <a:prstGeom prst="roundRect">
            <a:avLst>
              <a:gd name="adj" fmla="val 18625339"/>
            </a:avLst>
          </a:prstGeom>
          <a:solidFill>
            <a:srgbClr val="00B050"/>
          </a:solidFill>
          <a:ln/>
        </p:spPr>
      </p:sp>
      <p:pic>
        <p:nvPicPr>
          <p:cNvPr id="14"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48724" y="1387078"/>
            <a:ext cx="184051" cy="184051"/>
          </a:xfrm>
          <a:prstGeom prst="rect">
            <a:avLst/>
          </a:prstGeom>
        </p:spPr>
      </p:pic>
      <p:sp>
        <p:nvSpPr>
          <p:cNvPr id="15" name="Text 11"/>
          <p:cNvSpPr/>
          <p:nvPr/>
        </p:nvSpPr>
        <p:spPr>
          <a:xfrm>
            <a:off x="6336210" y="1819969"/>
            <a:ext cx="1515169"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458"/>
              </a:lnSpc>
              <a:buNone/>
            </a:pPr>
            <a:r>
              <a:rPr lang="en-US" sz="2000" b="1">
                <a:solidFill>
                  <a:srgbClr val="00B050"/>
                </a:solidFill>
                <a:latin typeface="Aptos"/>
                <a:ea typeface="Comfortaa Bold"/>
                <a:cs typeface="Comfortaa Bold" pitchFamily="34" charset="-120"/>
              </a:rPr>
              <a:t>Aryan Gupta</a:t>
            </a:r>
            <a:endParaRPr lang="en-US" sz="2000">
              <a:solidFill>
                <a:srgbClr val="00B050"/>
              </a:solidFill>
              <a:latin typeface="Aptos"/>
              <a:ea typeface="Comfortaa Bold"/>
            </a:endParaRPr>
          </a:p>
        </p:txBody>
      </p:sp>
      <p:sp>
        <p:nvSpPr>
          <p:cNvPr id="16" name="Text 12"/>
          <p:cNvSpPr/>
          <p:nvPr/>
        </p:nvSpPr>
        <p:spPr>
          <a:xfrm>
            <a:off x="6336209" y="2091036"/>
            <a:ext cx="502096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r>
              <a:rPr lang="en-US" sz="1400">
                <a:solidFill>
                  <a:srgbClr val="D7D4CC"/>
                </a:solidFill>
                <a:latin typeface="Aptos"/>
                <a:ea typeface="Raleway Medium" pitchFamily="34" charset="-122"/>
                <a:cs typeface="Raleway Medium" pitchFamily="34" charset="-120"/>
              </a:rPr>
              <a:t>Source Separation &amp; Model Training</a:t>
            </a:r>
            <a:endParaRPr lang="en-US" sz="1400">
              <a:latin typeface="Aptos"/>
            </a:endParaRPr>
          </a:p>
        </p:txBody>
      </p:sp>
      <p:sp>
        <p:nvSpPr>
          <p:cNvPr id="17" name="Text 13"/>
          <p:cNvSpPr/>
          <p:nvPr/>
        </p:nvSpPr>
        <p:spPr>
          <a:xfrm>
            <a:off x="6336209" y="2390875"/>
            <a:ext cx="502096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739" indent="-285739" algn="l">
              <a:lnSpc>
                <a:spcPts val="1708"/>
              </a:lnSpc>
              <a:buSzPct val="100000"/>
              <a:buChar char="•"/>
            </a:pPr>
            <a:r>
              <a:rPr lang="en-US" sz="1400">
                <a:solidFill>
                  <a:srgbClr val="D7D4CC"/>
                </a:solidFill>
                <a:latin typeface="Aptos"/>
                <a:ea typeface="Raleway Medium" pitchFamily="34" charset="-122"/>
                <a:cs typeface="Raleway Medium" pitchFamily="34" charset="-120"/>
              </a:rPr>
              <a:t>Configure Spleeter for stem separation</a:t>
            </a:r>
            <a:endParaRPr lang="en-US" sz="1400">
              <a:latin typeface="Aptos"/>
            </a:endParaRPr>
          </a:p>
        </p:txBody>
      </p:sp>
      <p:sp>
        <p:nvSpPr>
          <p:cNvPr id="18" name="Text 14"/>
          <p:cNvSpPr/>
          <p:nvPr/>
        </p:nvSpPr>
        <p:spPr>
          <a:xfrm>
            <a:off x="6336209" y="2656681"/>
            <a:ext cx="502096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115" indent="-285115">
              <a:lnSpc>
                <a:spcPts val="1708"/>
              </a:lnSpc>
              <a:buSzPct val="100000"/>
              <a:buChar char="•"/>
            </a:pPr>
            <a:r>
              <a:rPr lang="en-US" sz="1400" dirty="0">
                <a:solidFill>
                  <a:srgbClr val="D7D4CC"/>
                </a:solidFill>
                <a:latin typeface="Aptos"/>
                <a:ea typeface="Raleway Medium" pitchFamily="34" charset="-122"/>
                <a:cs typeface="Raleway Medium" pitchFamily="34" charset="-120"/>
              </a:rPr>
              <a:t>Train regression models – Polynomial, KNN-based, RF</a:t>
            </a:r>
            <a:endParaRPr lang="en-US" sz="1400" dirty="0">
              <a:latin typeface="Aptos"/>
            </a:endParaRPr>
          </a:p>
        </p:txBody>
      </p:sp>
      <p:sp>
        <p:nvSpPr>
          <p:cNvPr id="19" name="Text 15"/>
          <p:cNvSpPr/>
          <p:nvPr/>
        </p:nvSpPr>
        <p:spPr>
          <a:xfrm>
            <a:off x="6336209" y="2922488"/>
            <a:ext cx="502096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115" indent="-285115">
              <a:lnSpc>
                <a:spcPts val="1708"/>
              </a:lnSpc>
              <a:buSzPct val="100000"/>
              <a:buChar char="•"/>
            </a:pPr>
            <a:r>
              <a:rPr lang="en-US" sz="1400" dirty="0">
                <a:solidFill>
                  <a:srgbClr val="D7D4CC"/>
                </a:solidFill>
                <a:latin typeface="Aptos"/>
                <a:ea typeface="Raleway Medium" pitchFamily="34" charset="-122"/>
                <a:cs typeface="Raleway Medium" pitchFamily="34" charset="-120"/>
              </a:rPr>
              <a:t>Optimize hyperparameters using </a:t>
            </a:r>
            <a:r>
              <a:rPr lang="en-US" sz="1400" dirty="0" err="1">
                <a:solidFill>
                  <a:srgbClr val="D7D4CC"/>
                </a:solidFill>
                <a:latin typeface="Aptos"/>
                <a:ea typeface="Raleway Medium" pitchFamily="34" charset="-122"/>
                <a:cs typeface="Raleway Medium" pitchFamily="34" charset="-120"/>
              </a:rPr>
              <a:t>skopt</a:t>
            </a:r>
            <a:endParaRPr lang="en-US" sz="1400" dirty="0" err="1">
              <a:latin typeface="Aptos"/>
            </a:endParaRPr>
          </a:p>
        </p:txBody>
      </p:sp>
      <p:sp>
        <p:nvSpPr>
          <p:cNvPr id="20" name="Shape 16"/>
          <p:cNvSpPr/>
          <p:nvPr/>
        </p:nvSpPr>
        <p:spPr>
          <a:xfrm>
            <a:off x="769938" y="3413224"/>
            <a:ext cx="5293618" cy="2138660"/>
          </a:xfrm>
          <a:prstGeom prst="roundRect">
            <a:avLst>
              <a:gd name="adj" fmla="val 9565"/>
            </a:avLst>
          </a:prstGeom>
          <a:solidFill>
            <a:srgbClr val="46464A"/>
          </a:solidFill>
          <a:ln/>
        </p:spPr>
      </p:sp>
      <p:sp>
        <p:nvSpPr>
          <p:cNvPr id="21" name="Shape 17"/>
          <p:cNvSpPr/>
          <p:nvPr/>
        </p:nvSpPr>
        <p:spPr>
          <a:xfrm>
            <a:off x="906265" y="3549551"/>
            <a:ext cx="409079" cy="409079"/>
          </a:xfrm>
          <a:prstGeom prst="roundRect">
            <a:avLst>
              <a:gd name="adj" fmla="val 18625339"/>
            </a:avLst>
          </a:prstGeom>
          <a:solidFill>
            <a:srgbClr val="00B050"/>
          </a:solidFill>
          <a:ln/>
        </p:spPr>
      </p:sp>
      <p:pic>
        <p:nvPicPr>
          <p:cNvPr id="2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18779" y="3662066"/>
            <a:ext cx="184051" cy="184051"/>
          </a:xfrm>
          <a:prstGeom prst="rect">
            <a:avLst/>
          </a:prstGeom>
        </p:spPr>
      </p:pic>
      <p:sp>
        <p:nvSpPr>
          <p:cNvPr id="23" name="Text 18"/>
          <p:cNvSpPr/>
          <p:nvPr/>
        </p:nvSpPr>
        <p:spPr>
          <a:xfrm>
            <a:off x="906265" y="4094958"/>
            <a:ext cx="1515169"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458"/>
              </a:lnSpc>
              <a:buNone/>
            </a:pPr>
            <a:r>
              <a:rPr lang="en-US" sz="2000" b="1">
                <a:solidFill>
                  <a:srgbClr val="00B050"/>
                </a:solidFill>
                <a:latin typeface="Aptos"/>
                <a:ea typeface="Comfortaa Bold"/>
                <a:cs typeface="Comfortaa Bold" pitchFamily="34" charset="-120"/>
              </a:rPr>
              <a:t>Lakshmi C</a:t>
            </a:r>
            <a:endParaRPr lang="en-US" sz="2000">
              <a:solidFill>
                <a:srgbClr val="00B050"/>
              </a:solidFill>
              <a:latin typeface="Aptos"/>
              <a:ea typeface="Comfortaa Bold"/>
            </a:endParaRPr>
          </a:p>
        </p:txBody>
      </p:sp>
      <p:sp>
        <p:nvSpPr>
          <p:cNvPr id="24" name="Text 19"/>
          <p:cNvSpPr/>
          <p:nvPr/>
        </p:nvSpPr>
        <p:spPr>
          <a:xfrm>
            <a:off x="906264" y="4366022"/>
            <a:ext cx="502096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r>
              <a:rPr lang="en-US" sz="1400">
                <a:solidFill>
                  <a:srgbClr val="D7D4CC"/>
                </a:solidFill>
                <a:latin typeface="Aptos"/>
                <a:ea typeface="Raleway Medium" pitchFamily="34" charset="-122"/>
                <a:cs typeface="Raleway Medium" pitchFamily="34" charset="-120"/>
              </a:rPr>
              <a:t>Fusion Strategies &amp; Analysis</a:t>
            </a:r>
            <a:endParaRPr lang="en-US" sz="1400">
              <a:latin typeface="Aptos"/>
            </a:endParaRPr>
          </a:p>
        </p:txBody>
      </p:sp>
      <p:sp>
        <p:nvSpPr>
          <p:cNvPr id="25" name="Text 20"/>
          <p:cNvSpPr/>
          <p:nvPr/>
        </p:nvSpPr>
        <p:spPr>
          <a:xfrm>
            <a:off x="906264" y="4665861"/>
            <a:ext cx="502096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739" indent="-285739" algn="l">
              <a:lnSpc>
                <a:spcPts val="1708"/>
              </a:lnSpc>
              <a:buSzPct val="100000"/>
              <a:buChar char="•"/>
            </a:pPr>
            <a:r>
              <a:rPr lang="en-US" sz="1400">
                <a:solidFill>
                  <a:srgbClr val="D7D4CC"/>
                </a:solidFill>
                <a:latin typeface="Aptos"/>
                <a:ea typeface="Raleway Medium" pitchFamily="34" charset="-122"/>
                <a:cs typeface="Raleway Medium" pitchFamily="34" charset="-120"/>
              </a:rPr>
              <a:t>Implement fusion techniques</a:t>
            </a:r>
            <a:endParaRPr lang="en-US" sz="1400">
              <a:latin typeface="Aptos"/>
            </a:endParaRPr>
          </a:p>
        </p:txBody>
      </p:sp>
      <p:sp>
        <p:nvSpPr>
          <p:cNvPr id="26" name="Text 21"/>
          <p:cNvSpPr/>
          <p:nvPr/>
        </p:nvSpPr>
        <p:spPr>
          <a:xfrm>
            <a:off x="906264" y="4931669"/>
            <a:ext cx="502096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739" indent="-285739" algn="l">
              <a:lnSpc>
                <a:spcPts val="1708"/>
              </a:lnSpc>
              <a:buSzPct val="100000"/>
              <a:buChar char="•"/>
            </a:pPr>
            <a:r>
              <a:rPr lang="en-US" sz="1400">
                <a:solidFill>
                  <a:srgbClr val="D7D4CC"/>
                </a:solidFill>
                <a:latin typeface="Aptos"/>
                <a:ea typeface="Raleway Medium" pitchFamily="34" charset="-122"/>
                <a:cs typeface="Raleway Medium" pitchFamily="34" charset="-120"/>
              </a:rPr>
              <a:t>Analyze modality importance</a:t>
            </a:r>
            <a:endParaRPr lang="en-US" sz="1400">
              <a:latin typeface="Aptos"/>
            </a:endParaRPr>
          </a:p>
        </p:txBody>
      </p:sp>
      <p:sp>
        <p:nvSpPr>
          <p:cNvPr id="27" name="Text 22"/>
          <p:cNvSpPr/>
          <p:nvPr/>
        </p:nvSpPr>
        <p:spPr>
          <a:xfrm>
            <a:off x="906264" y="5197476"/>
            <a:ext cx="502096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739" indent="-285739" algn="l">
              <a:lnSpc>
                <a:spcPts val="1708"/>
              </a:lnSpc>
              <a:buSzPct val="100000"/>
              <a:buChar char="•"/>
            </a:pPr>
            <a:r>
              <a:rPr lang="en-US" sz="1400">
                <a:solidFill>
                  <a:srgbClr val="D7D4CC"/>
                </a:solidFill>
                <a:latin typeface="Aptos"/>
                <a:ea typeface="Raleway Medium" pitchFamily="34" charset="-122"/>
                <a:cs typeface="Raleway Medium" pitchFamily="34" charset="-120"/>
              </a:rPr>
              <a:t>Compare strategy performance</a:t>
            </a:r>
            <a:endParaRPr lang="en-US" sz="1400">
              <a:latin typeface="Aptos"/>
            </a:endParaRPr>
          </a:p>
        </p:txBody>
      </p:sp>
      <p:sp>
        <p:nvSpPr>
          <p:cNvPr id="28" name="Shape 23"/>
          <p:cNvSpPr/>
          <p:nvPr/>
        </p:nvSpPr>
        <p:spPr>
          <a:xfrm>
            <a:off x="6199883" y="3413224"/>
            <a:ext cx="5293618" cy="2138660"/>
          </a:xfrm>
          <a:prstGeom prst="roundRect">
            <a:avLst>
              <a:gd name="adj" fmla="val 9565"/>
            </a:avLst>
          </a:prstGeom>
          <a:solidFill>
            <a:srgbClr val="46464A"/>
          </a:solidFill>
          <a:ln/>
        </p:spPr>
      </p:sp>
      <p:sp>
        <p:nvSpPr>
          <p:cNvPr id="29" name="Shape 24"/>
          <p:cNvSpPr/>
          <p:nvPr/>
        </p:nvSpPr>
        <p:spPr>
          <a:xfrm>
            <a:off x="6336210" y="3549551"/>
            <a:ext cx="409079" cy="409079"/>
          </a:xfrm>
          <a:prstGeom prst="roundRect">
            <a:avLst>
              <a:gd name="adj" fmla="val 18625339"/>
            </a:avLst>
          </a:prstGeom>
          <a:solidFill>
            <a:srgbClr val="00B050"/>
          </a:solidFill>
          <a:ln/>
        </p:spPr>
      </p:sp>
      <p:pic>
        <p:nvPicPr>
          <p:cNvPr id="3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48724" y="3662066"/>
            <a:ext cx="184051" cy="184051"/>
          </a:xfrm>
          <a:prstGeom prst="rect">
            <a:avLst/>
          </a:prstGeom>
        </p:spPr>
      </p:pic>
      <p:sp>
        <p:nvSpPr>
          <p:cNvPr id="31" name="Text 25"/>
          <p:cNvSpPr/>
          <p:nvPr/>
        </p:nvSpPr>
        <p:spPr>
          <a:xfrm>
            <a:off x="6336210" y="4094958"/>
            <a:ext cx="1515169"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458"/>
              </a:lnSpc>
              <a:buNone/>
            </a:pPr>
            <a:r>
              <a:rPr lang="en-US" sz="2000" b="1">
                <a:solidFill>
                  <a:srgbClr val="00B050"/>
                </a:solidFill>
                <a:latin typeface="Aptos"/>
                <a:ea typeface="Comfortaa Bold"/>
                <a:cs typeface="Comfortaa Bold" pitchFamily="34" charset="-120"/>
              </a:rPr>
              <a:t>Daivik Gupta</a:t>
            </a:r>
            <a:endParaRPr lang="en-US" sz="2000">
              <a:solidFill>
                <a:srgbClr val="00B050"/>
              </a:solidFill>
              <a:latin typeface="Aptos"/>
              <a:ea typeface="Comfortaa Bold"/>
            </a:endParaRPr>
          </a:p>
        </p:txBody>
      </p:sp>
      <p:sp>
        <p:nvSpPr>
          <p:cNvPr id="32" name="Text 26"/>
          <p:cNvSpPr/>
          <p:nvPr/>
        </p:nvSpPr>
        <p:spPr>
          <a:xfrm>
            <a:off x="6336209" y="4366022"/>
            <a:ext cx="502096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r>
              <a:rPr lang="en-US" sz="1400">
                <a:solidFill>
                  <a:srgbClr val="D7D4CC"/>
                </a:solidFill>
                <a:latin typeface="Aptos"/>
                <a:ea typeface="Raleway Medium" pitchFamily="34" charset="-122"/>
                <a:cs typeface="Raleway Medium" pitchFamily="34" charset="-120"/>
              </a:rPr>
              <a:t>Evaluation &amp; Documentation</a:t>
            </a:r>
            <a:endParaRPr lang="en-US" sz="1400">
              <a:latin typeface="Aptos"/>
            </a:endParaRPr>
          </a:p>
        </p:txBody>
      </p:sp>
      <p:sp>
        <p:nvSpPr>
          <p:cNvPr id="33" name="Text 27"/>
          <p:cNvSpPr/>
          <p:nvPr/>
        </p:nvSpPr>
        <p:spPr>
          <a:xfrm>
            <a:off x="6336209" y="4665861"/>
            <a:ext cx="502096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739" indent="-285739" algn="l">
              <a:lnSpc>
                <a:spcPts val="1708"/>
              </a:lnSpc>
              <a:buSzPct val="100000"/>
              <a:buChar char="•"/>
            </a:pPr>
            <a:r>
              <a:rPr lang="en-US" sz="1400">
                <a:solidFill>
                  <a:srgbClr val="D7D4CC"/>
                </a:solidFill>
                <a:latin typeface="Aptos"/>
                <a:ea typeface="Raleway Medium" pitchFamily="34" charset="-122"/>
                <a:cs typeface="Raleway Medium" pitchFamily="34" charset="-120"/>
              </a:rPr>
              <a:t>Design evaluation protocols</a:t>
            </a:r>
            <a:endParaRPr lang="en-US" sz="1400">
              <a:latin typeface="Aptos"/>
            </a:endParaRPr>
          </a:p>
        </p:txBody>
      </p:sp>
      <p:sp>
        <p:nvSpPr>
          <p:cNvPr id="34" name="Text 28"/>
          <p:cNvSpPr/>
          <p:nvPr/>
        </p:nvSpPr>
        <p:spPr>
          <a:xfrm>
            <a:off x="6336209" y="4931669"/>
            <a:ext cx="5020965"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115" indent="-285115">
              <a:lnSpc>
                <a:spcPts val="1707"/>
              </a:lnSpc>
              <a:buSzPct val="100000"/>
              <a:buFont typeface="Arial"/>
              <a:buChar char="•"/>
            </a:pPr>
            <a:r>
              <a:rPr lang="en-US" sz="1400">
                <a:solidFill>
                  <a:srgbClr val="D7D4CC"/>
                </a:solidFill>
                <a:latin typeface="Aptos"/>
              </a:rPr>
              <a:t>Document findings and results</a:t>
            </a:r>
            <a:endParaRPr lang="en-US" sz="1400">
              <a:solidFill>
                <a:srgbClr val="000000"/>
              </a:solidFill>
              <a:latin typeface="Aptos"/>
            </a:endParaRPr>
          </a:p>
          <a:p>
            <a:pPr marL="285115" indent="-285115">
              <a:lnSpc>
                <a:spcPts val="1707"/>
              </a:lnSpc>
              <a:buSzPct val="100000"/>
              <a:buFont typeface="Arial"/>
              <a:buChar char="•"/>
            </a:pPr>
            <a:r>
              <a:rPr lang="en-US" sz="1400">
                <a:solidFill>
                  <a:srgbClr val="D7D4CC"/>
                </a:solidFill>
                <a:latin typeface="Aptos"/>
              </a:rPr>
              <a:t>Per-dimension Analysis</a:t>
            </a:r>
          </a:p>
          <a:p>
            <a:pPr marL="285115" indent="-285115">
              <a:lnSpc>
                <a:spcPts val="1707"/>
              </a:lnSpc>
              <a:buSzPct val="100000"/>
              <a:buFont typeface="Arial"/>
              <a:buChar char="•"/>
            </a:pPr>
            <a:endParaRPr lang="en-US" sz="1400">
              <a:solidFill>
                <a:srgbClr val="D7D4CC"/>
              </a:solidFill>
              <a:latin typeface="Aptos"/>
            </a:endParaRPr>
          </a:p>
          <a:p>
            <a:pPr marL="285115" indent="-285115">
              <a:lnSpc>
                <a:spcPts val="1707"/>
              </a:lnSpc>
              <a:buSzPct val="100000"/>
              <a:buFont typeface="Arial"/>
              <a:buChar char="•"/>
            </a:pPr>
            <a:endParaRPr lang="en-US" sz="1400">
              <a:solidFill>
                <a:srgbClr val="D7D4CC"/>
              </a:solidFill>
              <a:latin typeface="Aptos"/>
            </a:endParaRPr>
          </a:p>
          <a:p>
            <a:pPr marL="285115" indent="-285115">
              <a:lnSpc>
                <a:spcPts val="1707"/>
              </a:lnSpc>
              <a:buSzPct val="100000"/>
              <a:buChar char="•"/>
            </a:pPr>
            <a:endParaRPr lang="en-US" sz="1400">
              <a:solidFill>
                <a:srgbClr val="D7D4CC"/>
              </a:solidFill>
              <a:latin typeface="Aptos"/>
            </a:endParaRPr>
          </a:p>
        </p:txBody>
      </p:sp>
      <p:sp>
        <p:nvSpPr>
          <p:cNvPr id="37" name="Rectangle 36">
            <a:extLst>
              <a:ext uri="{FF2B5EF4-FFF2-40B4-BE49-F238E27FC236}">
                <a16:creationId xmlns:a16="http://schemas.microsoft.com/office/drawing/2014/main" id="{EB1D9999-99FB-A13B-C07E-ECB727C1F72C}"/>
              </a:ext>
            </a:extLst>
          </p:cNvPr>
          <p:cNvSpPr/>
          <p:nvPr/>
        </p:nvSpPr>
        <p:spPr>
          <a:xfrm>
            <a:off x="10637721" y="6388688"/>
            <a:ext cx="1463443" cy="373430"/>
          </a:xfrm>
          <a:prstGeom prst="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descr="A black and green circle with a star in it&#10;&#10;AI-generated content may be incorrect.">
            <a:extLst>
              <a:ext uri="{FF2B5EF4-FFF2-40B4-BE49-F238E27FC236}">
                <a16:creationId xmlns:a16="http://schemas.microsoft.com/office/drawing/2014/main" id="{E4EA76FB-B39C-D4FD-CB9F-CCF9E939AB37}"/>
              </a:ext>
            </a:extLst>
          </p:cNvPr>
          <p:cNvPicPr>
            <a:picLocks noChangeAspect="1"/>
          </p:cNvPicPr>
          <p:nvPr/>
        </p:nvPicPr>
        <p:blipFill>
          <a:blip r:embed="rId11"/>
          <a:stretch>
            <a:fillRect/>
          </a:stretch>
        </p:blipFill>
        <p:spPr>
          <a:xfrm>
            <a:off x="11446563" y="242957"/>
            <a:ext cx="408610" cy="386523"/>
          </a:xfrm>
          <a:prstGeom prst="rect">
            <a:avLst/>
          </a:prstGeom>
        </p:spPr>
      </p:pic>
      <p:pic>
        <p:nvPicPr>
          <p:cNvPr id="36" name="Picture 35" descr="A screen shot of a video player&#10;&#10;AI-generated content may be incorrect.">
            <a:extLst>
              <a:ext uri="{FF2B5EF4-FFF2-40B4-BE49-F238E27FC236}">
                <a16:creationId xmlns:a16="http://schemas.microsoft.com/office/drawing/2014/main" id="{EF0AA0AD-1152-8D8A-1AFE-62E881208059}"/>
              </a:ext>
            </a:extLst>
          </p:cNvPr>
          <p:cNvPicPr>
            <a:picLocks noChangeAspect="1"/>
          </p:cNvPicPr>
          <p:nvPr/>
        </p:nvPicPr>
        <p:blipFill>
          <a:blip r:embed="rId12"/>
          <a:stretch>
            <a:fillRect/>
          </a:stretch>
        </p:blipFill>
        <p:spPr>
          <a:xfrm>
            <a:off x="3181350" y="5684043"/>
            <a:ext cx="5019675" cy="1085850"/>
          </a:xfrm>
          <a:prstGeom prst="rect">
            <a:avLst/>
          </a:prstGeom>
        </p:spPr>
      </p:pic>
      <p:cxnSp>
        <p:nvCxnSpPr>
          <p:cNvPr id="3" name="Straight Arrow Connector 2">
            <a:extLst>
              <a:ext uri="{FF2B5EF4-FFF2-40B4-BE49-F238E27FC236}">
                <a16:creationId xmlns:a16="http://schemas.microsoft.com/office/drawing/2014/main" id="{9B18426D-169C-2960-ED21-3F0A1E627E36}"/>
              </a:ext>
            </a:extLst>
          </p:cNvPr>
          <p:cNvCxnSpPr/>
          <p:nvPr/>
        </p:nvCxnSpPr>
        <p:spPr>
          <a:xfrm flipV="1">
            <a:off x="210069" y="3331802"/>
            <a:ext cx="11779250" cy="16960"/>
          </a:xfrm>
          <a:prstGeom prst="straightConnector1">
            <a:avLst/>
          </a:prstGeom>
          <a:ln>
            <a:solidFill>
              <a:srgbClr val="00B050"/>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58720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4219" y="697607"/>
            <a:ext cx="4355207" cy="40788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3208"/>
              </a:lnSpc>
              <a:buNone/>
            </a:pPr>
            <a:r>
              <a:rPr lang="en-US" sz="2500" b="1">
                <a:solidFill>
                  <a:srgbClr val="00B050"/>
                </a:solidFill>
                <a:latin typeface="Aptos"/>
                <a:ea typeface="Comfortaa Bold"/>
                <a:cs typeface="Comfortaa Bold" pitchFamily="34" charset="-120"/>
              </a:rPr>
              <a:t>Deliverables &amp; Evaluation</a:t>
            </a:r>
            <a:endParaRPr lang="en-US" sz="2500">
              <a:solidFill>
                <a:srgbClr val="00B050"/>
              </a:solidFill>
              <a:latin typeface="Aptos"/>
              <a:ea typeface="Comfortaa Bold"/>
            </a:endParaRPr>
          </a:p>
        </p:txBody>
      </p:sp>
      <p:sp>
        <p:nvSpPr>
          <p:cNvPr id="3" name="Text 1"/>
          <p:cNvSpPr/>
          <p:nvPr/>
        </p:nvSpPr>
        <p:spPr>
          <a:xfrm>
            <a:off x="734219" y="1472605"/>
            <a:ext cx="2016323" cy="24477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b="1">
                <a:solidFill>
                  <a:srgbClr val="00B050"/>
                </a:solidFill>
                <a:latin typeface="Aptos"/>
                <a:ea typeface="Comfortaa Bold" pitchFamily="34" charset="-122"/>
                <a:cs typeface="Comfortaa Bold" pitchFamily="34" charset="-120"/>
              </a:rPr>
              <a:t>Project Deliverables</a:t>
            </a:r>
            <a:endParaRPr lang="en-US">
              <a:solidFill>
                <a:srgbClr val="00B050"/>
              </a:solidFill>
              <a:latin typeface="Aptos"/>
            </a:endParaRPr>
          </a:p>
        </p:txBody>
      </p:sp>
      <p:sp>
        <p:nvSpPr>
          <p:cNvPr id="4" name="Text 2"/>
          <p:cNvSpPr/>
          <p:nvPr/>
        </p:nvSpPr>
        <p:spPr>
          <a:xfrm>
            <a:off x="734219" y="1882577"/>
            <a:ext cx="146843" cy="18355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33"/>
              </a:lnSpc>
              <a:buNone/>
            </a:pPr>
            <a:r>
              <a:rPr lang="en-US" sz="1125">
                <a:solidFill>
                  <a:srgbClr val="D7D4CC"/>
                </a:solidFill>
                <a:latin typeface="Aptos"/>
                <a:ea typeface="Comfortaa Light" pitchFamily="34" charset="-122"/>
                <a:cs typeface="Comfortaa Light" pitchFamily="34" charset="-120"/>
              </a:rPr>
              <a:t>01</a:t>
            </a:r>
            <a:endParaRPr lang="en-US" sz="1125">
              <a:latin typeface="Aptos"/>
            </a:endParaRPr>
          </a:p>
        </p:txBody>
      </p:sp>
      <p:sp>
        <p:nvSpPr>
          <p:cNvPr id="5" name="Shape 3"/>
          <p:cNvSpPr/>
          <p:nvPr/>
        </p:nvSpPr>
        <p:spPr>
          <a:xfrm>
            <a:off x="734219" y="2113161"/>
            <a:ext cx="5182692" cy="19050"/>
          </a:xfrm>
          <a:prstGeom prst="rect">
            <a:avLst/>
          </a:prstGeom>
          <a:solidFill>
            <a:srgbClr val="00B050"/>
          </a:solidFill>
          <a:ln>
            <a:solidFill>
              <a:srgbClr val="00B050"/>
            </a:solidFill>
          </a:ln>
        </p:spPr>
      </p:sp>
      <p:sp>
        <p:nvSpPr>
          <p:cNvPr id="6" name="Text 4"/>
          <p:cNvSpPr/>
          <p:nvPr/>
        </p:nvSpPr>
        <p:spPr>
          <a:xfrm>
            <a:off x="734220" y="2224683"/>
            <a:ext cx="2167831" cy="2039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583"/>
              </a:lnSpc>
              <a:buNone/>
            </a:pPr>
            <a:r>
              <a:rPr lang="en-US" sz="1250" b="1">
                <a:solidFill>
                  <a:srgbClr val="D7D4CC"/>
                </a:solidFill>
                <a:latin typeface="Aptos"/>
                <a:ea typeface="Comfortaa Bold" pitchFamily="34" charset="-122"/>
                <a:cs typeface="Comfortaa Bold" pitchFamily="34" charset="-120"/>
              </a:rPr>
              <a:t>Runnable Python Pipeline</a:t>
            </a:r>
            <a:endParaRPr lang="en-US" sz="1250">
              <a:latin typeface="Aptos"/>
            </a:endParaRPr>
          </a:p>
        </p:txBody>
      </p:sp>
      <p:sp>
        <p:nvSpPr>
          <p:cNvPr id="7" name="Text 5"/>
          <p:cNvSpPr/>
          <p:nvPr/>
        </p:nvSpPr>
        <p:spPr>
          <a:xfrm>
            <a:off x="734219" y="2575520"/>
            <a:ext cx="5182692" cy="46990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33"/>
              </a:lnSpc>
              <a:buNone/>
            </a:pPr>
            <a:r>
              <a:rPr lang="en-US" sz="1125">
                <a:solidFill>
                  <a:srgbClr val="D7D4CC"/>
                </a:solidFill>
                <a:latin typeface="Aptos"/>
                <a:ea typeface="Raleway Medium" pitchFamily="34" charset="-122"/>
                <a:cs typeface="Raleway Medium" pitchFamily="34" charset="-120"/>
              </a:rPr>
              <a:t>A complete, documented codebase capable of processing any audio file and extracting all multi-modal features.</a:t>
            </a:r>
            <a:endParaRPr lang="en-US" sz="1125">
              <a:latin typeface="Aptos"/>
            </a:endParaRPr>
          </a:p>
        </p:txBody>
      </p:sp>
      <p:sp>
        <p:nvSpPr>
          <p:cNvPr id="8" name="Text 6"/>
          <p:cNvSpPr/>
          <p:nvPr/>
        </p:nvSpPr>
        <p:spPr>
          <a:xfrm>
            <a:off x="734219" y="3302397"/>
            <a:ext cx="146843" cy="18355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33"/>
              </a:lnSpc>
              <a:buNone/>
            </a:pPr>
            <a:r>
              <a:rPr lang="en-US" sz="1125">
                <a:solidFill>
                  <a:srgbClr val="D7D4CC"/>
                </a:solidFill>
                <a:latin typeface="Aptos"/>
                <a:ea typeface="Comfortaa Light" pitchFamily="34" charset="-122"/>
                <a:cs typeface="Comfortaa Light" pitchFamily="34" charset="-120"/>
              </a:rPr>
              <a:t>02</a:t>
            </a:r>
            <a:endParaRPr lang="en-US" sz="1125">
              <a:latin typeface="Aptos"/>
            </a:endParaRPr>
          </a:p>
        </p:txBody>
      </p:sp>
      <p:sp>
        <p:nvSpPr>
          <p:cNvPr id="9" name="Shape 7"/>
          <p:cNvSpPr/>
          <p:nvPr/>
        </p:nvSpPr>
        <p:spPr>
          <a:xfrm>
            <a:off x="734219" y="3532982"/>
            <a:ext cx="5182692" cy="19050"/>
          </a:xfrm>
          <a:prstGeom prst="rect">
            <a:avLst/>
          </a:prstGeom>
          <a:solidFill>
            <a:srgbClr val="00B050"/>
          </a:solidFill>
          <a:ln>
            <a:solidFill>
              <a:srgbClr val="00B050"/>
            </a:solidFill>
          </a:ln>
        </p:spPr>
      </p:sp>
      <p:sp>
        <p:nvSpPr>
          <p:cNvPr id="10" name="Text 8"/>
          <p:cNvSpPr/>
          <p:nvPr/>
        </p:nvSpPr>
        <p:spPr>
          <a:xfrm>
            <a:off x="734220" y="3644504"/>
            <a:ext cx="2115344" cy="2039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583"/>
              </a:lnSpc>
              <a:buNone/>
            </a:pPr>
            <a:r>
              <a:rPr lang="en-US" sz="1250" b="1">
                <a:solidFill>
                  <a:srgbClr val="D7D4CC"/>
                </a:solidFill>
                <a:latin typeface="Aptos"/>
                <a:ea typeface="Comfortaa Bold" pitchFamily="34" charset="-122"/>
                <a:cs typeface="Comfortaa Bold" pitchFamily="34" charset="-120"/>
              </a:rPr>
              <a:t>Modality Analysis Report</a:t>
            </a:r>
            <a:endParaRPr lang="en-US" sz="1250">
              <a:latin typeface="Aptos"/>
            </a:endParaRPr>
          </a:p>
        </p:txBody>
      </p:sp>
      <p:sp>
        <p:nvSpPr>
          <p:cNvPr id="11" name="Text 9"/>
          <p:cNvSpPr/>
          <p:nvPr/>
        </p:nvSpPr>
        <p:spPr>
          <a:xfrm>
            <a:off x="734219" y="3995341"/>
            <a:ext cx="5182692" cy="46990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33"/>
              </a:lnSpc>
              <a:buNone/>
            </a:pPr>
            <a:r>
              <a:rPr lang="en-US" sz="1125">
                <a:solidFill>
                  <a:srgbClr val="D7D4CC"/>
                </a:solidFill>
                <a:latin typeface="Aptos"/>
                <a:ea typeface="Raleway Medium" pitchFamily="34" charset="-122"/>
                <a:cs typeface="Raleway Medium" pitchFamily="34" charset="-120"/>
              </a:rPr>
              <a:t>Comprehensive analysis identifying which features are most predictive (e.g., "Vocal features strongly predict Naturalness scores").</a:t>
            </a:r>
            <a:endParaRPr lang="en-US" sz="1125">
              <a:latin typeface="Aptos"/>
            </a:endParaRPr>
          </a:p>
        </p:txBody>
      </p:sp>
      <p:sp>
        <p:nvSpPr>
          <p:cNvPr id="12" name="Text 10"/>
          <p:cNvSpPr/>
          <p:nvPr/>
        </p:nvSpPr>
        <p:spPr>
          <a:xfrm>
            <a:off x="734219" y="4722218"/>
            <a:ext cx="146843" cy="18355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33"/>
              </a:lnSpc>
              <a:buNone/>
            </a:pPr>
            <a:r>
              <a:rPr lang="en-US" sz="1125">
                <a:solidFill>
                  <a:srgbClr val="D7D4CC"/>
                </a:solidFill>
                <a:latin typeface="Aptos"/>
                <a:ea typeface="Comfortaa Light" pitchFamily="34" charset="-122"/>
                <a:cs typeface="Comfortaa Light" pitchFamily="34" charset="-120"/>
              </a:rPr>
              <a:t>03</a:t>
            </a:r>
            <a:endParaRPr lang="en-US" sz="1125">
              <a:latin typeface="Aptos"/>
            </a:endParaRPr>
          </a:p>
        </p:txBody>
      </p:sp>
      <p:sp>
        <p:nvSpPr>
          <p:cNvPr id="13" name="Shape 11"/>
          <p:cNvSpPr/>
          <p:nvPr/>
        </p:nvSpPr>
        <p:spPr>
          <a:xfrm>
            <a:off x="734219" y="4952802"/>
            <a:ext cx="5182692" cy="19050"/>
          </a:xfrm>
          <a:prstGeom prst="rect">
            <a:avLst/>
          </a:prstGeom>
          <a:solidFill>
            <a:srgbClr val="00B050"/>
          </a:solidFill>
          <a:ln/>
        </p:spPr>
      </p:sp>
      <p:sp>
        <p:nvSpPr>
          <p:cNvPr id="14" name="Text 12"/>
          <p:cNvSpPr/>
          <p:nvPr/>
        </p:nvSpPr>
        <p:spPr>
          <a:xfrm>
            <a:off x="734219" y="5064324"/>
            <a:ext cx="2436515" cy="2039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583"/>
              </a:lnSpc>
              <a:buNone/>
            </a:pPr>
            <a:r>
              <a:rPr lang="en-US" sz="1250" b="1">
                <a:solidFill>
                  <a:srgbClr val="D7D4CC"/>
                </a:solidFill>
                <a:latin typeface="Aptos"/>
                <a:ea typeface="Comfortaa Bold" pitchFamily="34" charset="-122"/>
                <a:cs typeface="Comfortaa Bold" pitchFamily="34" charset="-120"/>
              </a:rPr>
              <a:t>Fusion Strategy Comparison</a:t>
            </a:r>
            <a:endParaRPr lang="en-US" sz="1250">
              <a:latin typeface="Aptos"/>
            </a:endParaRPr>
          </a:p>
        </p:txBody>
      </p:sp>
      <p:sp>
        <p:nvSpPr>
          <p:cNvPr id="15" name="Text 13"/>
          <p:cNvSpPr/>
          <p:nvPr/>
        </p:nvSpPr>
        <p:spPr>
          <a:xfrm>
            <a:off x="734219" y="5415161"/>
            <a:ext cx="5182692" cy="46990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33"/>
              </a:lnSpc>
              <a:buNone/>
            </a:pPr>
            <a:r>
              <a:rPr lang="en-US" sz="1100">
                <a:solidFill>
                  <a:srgbClr val="D7D4CC"/>
                </a:solidFill>
                <a:latin typeface="Aptos"/>
                <a:ea typeface="Raleway Medium" pitchFamily="34" charset="-122"/>
                <a:cs typeface="Raleway Medium" pitchFamily="34" charset="-120"/>
              </a:rPr>
              <a:t>Quantitative comparison showing performance differences between fusion approaches.</a:t>
            </a:r>
            <a:endParaRPr lang="en-US" sz="1100">
              <a:latin typeface="Aptos"/>
            </a:endParaRPr>
          </a:p>
        </p:txBody>
      </p:sp>
      <p:sp>
        <p:nvSpPr>
          <p:cNvPr id="16" name="Text 14"/>
          <p:cNvSpPr/>
          <p:nvPr/>
        </p:nvSpPr>
        <p:spPr>
          <a:xfrm>
            <a:off x="6281440" y="1472605"/>
            <a:ext cx="2508151" cy="24477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b="1">
                <a:solidFill>
                  <a:srgbClr val="00B050"/>
                </a:solidFill>
                <a:latin typeface="Aptos"/>
                <a:ea typeface="Comfortaa Bold" pitchFamily="34" charset="-122"/>
                <a:cs typeface="Comfortaa Bold" pitchFamily="34" charset="-120"/>
              </a:rPr>
              <a:t>Evaluation Methodology</a:t>
            </a:r>
            <a:endParaRPr lang="en-US">
              <a:solidFill>
                <a:srgbClr val="00B050"/>
              </a:solidFill>
              <a:latin typeface="Aptos"/>
            </a:endParaRPr>
          </a:p>
        </p:txBody>
      </p:sp>
      <p:sp>
        <p:nvSpPr>
          <p:cNvPr id="17" name="Text 15"/>
          <p:cNvSpPr/>
          <p:nvPr/>
        </p:nvSpPr>
        <p:spPr>
          <a:xfrm>
            <a:off x="6281440" y="1776116"/>
            <a:ext cx="1631752" cy="2039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583"/>
              </a:lnSpc>
              <a:buNone/>
            </a:pPr>
            <a:r>
              <a:rPr lang="en-US" sz="1250" b="1">
                <a:solidFill>
                  <a:srgbClr val="00B050"/>
                </a:solidFill>
                <a:latin typeface="Aptos"/>
                <a:ea typeface="Comfortaa Bold" pitchFamily="34" charset="-122"/>
                <a:cs typeface="Comfortaa Bold" pitchFamily="34" charset="-120"/>
              </a:rPr>
              <a:t>Primary Metric</a:t>
            </a:r>
            <a:endParaRPr lang="en-US" sz="1250">
              <a:solidFill>
                <a:srgbClr val="00B050"/>
              </a:solidFill>
              <a:latin typeface="Aptos"/>
            </a:endParaRPr>
          </a:p>
        </p:txBody>
      </p:sp>
      <p:sp>
        <p:nvSpPr>
          <p:cNvPr id="18" name="Text 16"/>
          <p:cNvSpPr/>
          <p:nvPr/>
        </p:nvSpPr>
        <p:spPr>
          <a:xfrm>
            <a:off x="6281440" y="2126953"/>
            <a:ext cx="5182692" cy="46990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33"/>
              </a:lnSpc>
              <a:buNone/>
            </a:pPr>
            <a:r>
              <a:rPr lang="en-US" sz="1125">
                <a:solidFill>
                  <a:srgbClr val="D7D4CC"/>
                </a:solidFill>
                <a:latin typeface="Aptos"/>
                <a:ea typeface="Raleway Medium" pitchFamily="34" charset="-122"/>
                <a:cs typeface="Raleway Medium" pitchFamily="34" charset="-120"/>
              </a:rPr>
              <a:t>Root Mean Square Error (RMSE) will measure prediction accuracy against human expert scores for each aesthetic dimension.</a:t>
            </a:r>
            <a:endParaRPr lang="en-US" sz="1125">
              <a:latin typeface="Aptos"/>
            </a:endParaRPr>
          </a:p>
        </p:txBody>
      </p:sp>
      <p:sp>
        <p:nvSpPr>
          <p:cNvPr id="19" name="Text 17"/>
          <p:cNvSpPr/>
          <p:nvPr/>
        </p:nvSpPr>
        <p:spPr>
          <a:xfrm>
            <a:off x="6281440" y="2743696"/>
            <a:ext cx="1955503" cy="20399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583"/>
              </a:lnSpc>
              <a:buNone/>
            </a:pPr>
            <a:r>
              <a:rPr lang="en-US" sz="1250" b="1">
                <a:solidFill>
                  <a:srgbClr val="00B050"/>
                </a:solidFill>
                <a:latin typeface="Aptos"/>
                <a:ea typeface="Comfortaa Bold" pitchFamily="34" charset="-122"/>
                <a:cs typeface="Comfortaa Bold" pitchFamily="34" charset="-120"/>
              </a:rPr>
              <a:t>Validation Approaches</a:t>
            </a:r>
            <a:endParaRPr lang="en-US" sz="1250">
              <a:solidFill>
                <a:srgbClr val="00B050"/>
              </a:solidFill>
              <a:latin typeface="Aptos"/>
            </a:endParaRPr>
          </a:p>
        </p:txBody>
      </p:sp>
      <p:sp>
        <p:nvSpPr>
          <p:cNvPr id="21" name="Text 19"/>
          <p:cNvSpPr/>
          <p:nvPr/>
        </p:nvSpPr>
        <p:spPr>
          <a:xfrm>
            <a:off x="6270397" y="3052612"/>
            <a:ext cx="5182692" cy="46990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739" indent="-285739" algn="l">
              <a:lnSpc>
                <a:spcPts val="1833"/>
              </a:lnSpc>
              <a:buSzPct val="100000"/>
              <a:buChar char="•"/>
            </a:pPr>
            <a:r>
              <a:rPr lang="en-US" sz="1125" b="1">
                <a:solidFill>
                  <a:srgbClr val="D7D4CC"/>
                </a:solidFill>
                <a:latin typeface="Aptos"/>
                <a:ea typeface="Raleway Medium" pitchFamily="34" charset="-122"/>
                <a:cs typeface="Raleway Medium" pitchFamily="34" charset="-120"/>
              </a:rPr>
              <a:t>Cross-validation:</a:t>
            </a:r>
            <a:r>
              <a:rPr lang="en-US" sz="1125">
                <a:solidFill>
                  <a:srgbClr val="D7D4CC"/>
                </a:solidFill>
                <a:latin typeface="Aptos"/>
                <a:ea typeface="Raleway Medium" pitchFamily="34" charset="-122"/>
                <a:cs typeface="Raleway Medium" pitchFamily="34" charset="-120"/>
              </a:rPr>
              <a:t> 5-fold cross-validation to ensure robust performance estimates.</a:t>
            </a:r>
            <a:endParaRPr lang="en-US" sz="1125">
              <a:latin typeface="Aptos"/>
            </a:endParaRPr>
          </a:p>
        </p:txBody>
      </p:sp>
      <p:sp>
        <p:nvSpPr>
          <p:cNvPr id="22" name="Text 20"/>
          <p:cNvSpPr/>
          <p:nvPr/>
        </p:nvSpPr>
        <p:spPr>
          <a:xfrm>
            <a:off x="6270397" y="3573907"/>
            <a:ext cx="5182692" cy="469900"/>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739" indent="-285739" algn="l">
              <a:lnSpc>
                <a:spcPts val="1833"/>
              </a:lnSpc>
              <a:buSzPct val="100000"/>
              <a:buChar char="•"/>
            </a:pPr>
            <a:r>
              <a:rPr lang="en-US" sz="1125" b="1">
                <a:solidFill>
                  <a:srgbClr val="D7D4CC"/>
                </a:solidFill>
                <a:latin typeface="Aptos"/>
                <a:ea typeface="Raleway Medium" pitchFamily="34" charset="-122"/>
                <a:cs typeface="Raleway Medium" pitchFamily="34" charset="-120"/>
              </a:rPr>
              <a:t>Per-dimension Analysis:</a:t>
            </a:r>
            <a:r>
              <a:rPr lang="en-US" sz="1125">
                <a:solidFill>
                  <a:srgbClr val="D7D4CC"/>
                </a:solidFill>
                <a:latin typeface="Aptos"/>
                <a:ea typeface="Raleway Medium" pitchFamily="34" charset="-122"/>
                <a:cs typeface="Raleway Medium" pitchFamily="34" charset="-120"/>
              </a:rPr>
              <a:t> Evaluate performance separately for each aesthetic dimension to identify strengths and weaknesses.</a:t>
            </a:r>
            <a:endParaRPr lang="en-US" sz="1125">
              <a:latin typeface="Aptos"/>
            </a:endParaRPr>
          </a:p>
        </p:txBody>
      </p:sp>
      <p:sp>
        <p:nvSpPr>
          <p:cNvPr id="24" name="Rectangle 23">
            <a:extLst>
              <a:ext uri="{FF2B5EF4-FFF2-40B4-BE49-F238E27FC236}">
                <a16:creationId xmlns:a16="http://schemas.microsoft.com/office/drawing/2014/main" id="{C6A4D126-6E8A-01B2-CCAA-039E8FDC2F71}"/>
              </a:ext>
            </a:extLst>
          </p:cNvPr>
          <p:cNvSpPr/>
          <p:nvPr/>
        </p:nvSpPr>
        <p:spPr>
          <a:xfrm>
            <a:off x="10637721" y="6388688"/>
            <a:ext cx="1463443" cy="373430"/>
          </a:xfrm>
          <a:prstGeom prst="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A black and green circle with a star in it&#10;&#10;AI-generated content may be incorrect.">
            <a:extLst>
              <a:ext uri="{FF2B5EF4-FFF2-40B4-BE49-F238E27FC236}">
                <a16:creationId xmlns:a16="http://schemas.microsoft.com/office/drawing/2014/main" id="{A20C4727-336F-B071-8FD5-ECDA3FDE58BA}"/>
              </a:ext>
            </a:extLst>
          </p:cNvPr>
          <p:cNvPicPr>
            <a:picLocks noChangeAspect="1"/>
          </p:cNvPicPr>
          <p:nvPr/>
        </p:nvPicPr>
        <p:blipFill>
          <a:blip r:embed="rId3"/>
          <a:stretch>
            <a:fillRect/>
          </a:stretch>
        </p:blipFill>
        <p:spPr>
          <a:xfrm>
            <a:off x="11446563" y="242957"/>
            <a:ext cx="408610" cy="386523"/>
          </a:xfrm>
          <a:prstGeom prst="rect">
            <a:avLst/>
          </a:prstGeom>
        </p:spPr>
      </p:pic>
      <p:pic>
        <p:nvPicPr>
          <p:cNvPr id="20" name="Picture 19" descr="A green line with a white circle and a white line in the middle&#10;&#10;AI-generated content may be incorrect.">
            <a:extLst>
              <a:ext uri="{FF2B5EF4-FFF2-40B4-BE49-F238E27FC236}">
                <a16:creationId xmlns:a16="http://schemas.microsoft.com/office/drawing/2014/main" id="{0CF65D7A-9735-F906-86F4-664312FD11FE}"/>
              </a:ext>
            </a:extLst>
          </p:cNvPr>
          <p:cNvPicPr>
            <a:picLocks noChangeAspect="1"/>
          </p:cNvPicPr>
          <p:nvPr/>
        </p:nvPicPr>
        <p:blipFill>
          <a:blip r:embed="rId4"/>
          <a:stretch>
            <a:fillRect/>
          </a:stretch>
        </p:blipFill>
        <p:spPr>
          <a:xfrm>
            <a:off x="3255169" y="5722143"/>
            <a:ext cx="4895850" cy="1057275"/>
          </a:xfrm>
          <a:prstGeom prst="rect">
            <a:avLst/>
          </a:prstGeom>
        </p:spPr>
      </p:pic>
    </p:spTree>
    <p:extLst>
      <p:ext uri="{BB962C8B-B14F-4D97-AF65-F5344CB8AC3E}">
        <p14:creationId xmlns:p14="http://schemas.microsoft.com/office/powerpoint/2010/main" val="3916186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51513"/>
        </a:solidFill>
        <a:effectLst/>
      </p:bgPr>
    </p:bg>
    <p:spTree>
      <p:nvGrpSpPr>
        <p:cNvPr id="1" name=""/>
        <p:cNvGrpSpPr/>
        <p:nvPr/>
      </p:nvGrpSpPr>
      <p:grpSpPr>
        <a:xfrm>
          <a:off x="0" y="0"/>
          <a:ext cx="0" cy="0"/>
          <a:chOff x="0" y="0"/>
          <a:chExt cx="0" cy="0"/>
        </a:xfrm>
      </p:grpSpPr>
      <p:sp>
        <p:nvSpPr>
          <p:cNvPr id="2" name="Text 0"/>
          <p:cNvSpPr/>
          <p:nvPr/>
        </p:nvSpPr>
        <p:spPr>
          <a:xfrm>
            <a:off x="729173" y="1334932"/>
            <a:ext cx="5517058" cy="37871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958"/>
              </a:lnSpc>
              <a:buNone/>
            </a:pPr>
            <a:r>
              <a:rPr lang="en-US" sz="3500" b="1">
                <a:solidFill>
                  <a:srgbClr val="00B050"/>
                </a:solidFill>
                <a:latin typeface="Aptos"/>
                <a:ea typeface="Comfortaa Bold"/>
                <a:cs typeface="Comfortaa Bold" pitchFamily="34" charset="-120"/>
              </a:rPr>
              <a:t>Challenges &amp; Mitigation Strategies</a:t>
            </a:r>
            <a:endParaRPr lang="en-US" sz="3500">
              <a:solidFill>
                <a:srgbClr val="00B050"/>
              </a:solidFill>
              <a:latin typeface="Aptos"/>
            </a:endParaRPr>
          </a:p>
        </p:txBody>
      </p:sp>
      <p:sp>
        <p:nvSpPr>
          <p:cNvPr id="3" name="Text 1"/>
          <p:cNvSpPr/>
          <p:nvPr/>
        </p:nvSpPr>
        <p:spPr>
          <a:xfrm>
            <a:off x="734219" y="1819774"/>
            <a:ext cx="10723563"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r>
              <a:rPr lang="en-US" sz="1600">
                <a:solidFill>
                  <a:schemeClr val="bg1"/>
                </a:solidFill>
                <a:latin typeface="Aptos"/>
                <a:ea typeface="Raleway Medium" pitchFamily="34" charset="-122"/>
                <a:cs typeface="Raleway Medium" pitchFamily="34" charset="-120"/>
              </a:rPr>
              <a:t>We have identified three primary technical challenges and developed mitigation approaches for each.</a:t>
            </a:r>
            <a:endParaRPr lang="en-US" sz="1600">
              <a:solidFill>
                <a:schemeClr val="bg1"/>
              </a:solidFill>
              <a:latin typeface="Aptos"/>
            </a:endParaRPr>
          </a:p>
        </p:txBody>
      </p:sp>
      <p:sp>
        <p:nvSpPr>
          <p:cNvPr id="4" name="Shape 2"/>
          <p:cNvSpPr/>
          <p:nvPr/>
        </p:nvSpPr>
        <p:spPr>
          <a:xfrm>
            <a:off x="734219" y="2736255"/>
            <a:ext cx="3483570" cy="1520079"/>
          </a:xfrm>
          <a:prstGeom prst="roundRect">
            <a:avLst>
              <a:gd name="adj" fmla="val 8494"/>
            </a:avLst>
          </a:prstGeom>
          <a:solidFill>
            <a:srgbClr val="00B050"/>
          </a:solidFill>
          <a:ln w="22860">
            <a:solidFill>
              <a:srgbClr val="00B050"/>
            </a:solidFill>
            <a:prstDash val="solid"/>
          </a:ln>
        </p:spPr>
      </p:sp>
      <p:sp>
        <p:nvSpPr>
          <p:cNvPr id="5" name="Text 3"/>
          <p:cNvSpPr/>
          <p:nvPr/>
        </p:nvSpPr>
        <p:spPr>
          <a:xfrm>
            <a:off x="1681873" y="4456003"/>
            <a:ext cx="1590080"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1458"/>
              </a:lnSpc>
              <a:buNone/>
            </a:pPr>
            <a:r>
              <a:rPr lang="en-US" sz="1800" b="1">
                <a:solidFill>
                  <a:srgbClr val="FFFFFF"/>
                </a:solidFill>
                <a:latin typeface="Aptos"/>
                <a:ea typeface="Comfortaa Bold"/>
                <a:cs typeface="Comfortaa Bold" pitchFamily="34" charset="-120"/>
              </a:rPr>
              <a:t>Computational Cost</a:t>
            </a:r>
            <a:endParaRPr lang="en-US" sz="1800" b="1">
              <a:solidFill>
                <a:srgbClr val="FFFFFF"/>
              </a:solidFill>
              <a:latin typeface="Aptos"/>
              <a:ea typeface="Comfortaa Bold"/>
              <a:cs typeface="Browallia New"/>
            </a:endParaRPr>
          </a:p>
        </p:txBody>
      </p:sp>
      <p:sp>
        <p:nvSpPr>
          <p:cNvPr id="6" name="Text 4"/>
          <p:cNvSpPr/>
          <p:nvPr/>
        </p:nvSpPr>
        <p:spPr>
          <a:xfrm>
            <a:off x="889595" y="3162697"/>
            <a:ext cx="3172818" cy="87233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endParaRPr lang="en-US" sz="1000">
              <a:solidFill>
                <a:srgbClr val="000000"/>
              </a:solidFill>
              <a:latin typeface="Raleway Medium"/>
            </a:endParaRPr>
          </a:p>
        </p:txBody>
      </p:sp>
      <p:sp>
        <p:nvSpPr>
          <p:cNvPr id="7" name="Text 5"/>
          <p:cNvSpPr/>
          <p:nvPr/>
        </p:nvSpPr>
        <p:spPr>
          <a:xfrm>
            <a:off x="889595" y="4116784"/>
            <a:ext cx="3172818" cy="87233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endParaRPr lang="en-US" sz="1000">
              <a:solidFill>
                <a:srgbClr val="000000"/>
              </a:solidFill>
              <a:latin typeface="Raleway Medium"/>
            </a:endParaRPr>
          </a:p>
        </p:txBody>
      </p:sp>
      <p:sp>
        <p:nvSpPr>
          <p:cNvPr id="8" name="Shape 6"/>
          <p:cNvSpPr/>
          <p:nvPr/>
        </p:nvSpPr>
        <p:spPr>
          <a:xfrm>
            <a:off x="4369255" y="2736255"/>
            <a:ext cx="3453391" cy="1530172"/>
          </a:xfrm>
          <a:prstGeom prst="roundRect">
            <a:avLst>
              <a:gd name="adj" fmla="val 8494"/>
            </a:avLst>
          </a:prstGeom>
          <a:solidFill>
            <a:srgbClr val="00B050"/>
          </a:solidFill>
          <a:ln w="22860">
            <a:solidFill>
              <a:srgbClr val="00B050"/>
            </a:solidFill>
            <a:prstDash val="solid"/>
          </a:ln>
        </p:spPr>
      </p:sp>
      <p:sp>
        <p:nvSpPr>
          <p:cNvPr id="9" name="Text 7"/>
          <p:cNvSpPr/>
          <p:nvPr/>
        </p:nvSpPr>
        <p:spPr>
          <a:xfrm>
            <a:off x="5337096" y="4456003"/>
            <a:ext cx="1515169"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1458"/>
              </a:lnSpc>
              <a:buNone/>
            </a:pPr>
            <a:r>
              <a:rPr lang="en-US" sz="1800" b="1">
                <a:solidFill>
                  <a:schemeClr val="bg1"/>
                </a:solidFill>
                <a:latin typeface="Aptos"/>
                <a:ea typeface="Comfortaa Bold"/>
                <a:cs typeface="Comfortaa Bold" pitchFamily="34" charset="-120"/>
              </a:rPr>
              <a:t>Separation Quality</a:t>
            </a:r>
            <a:endParaRPr lang="en-US" sz="1800">
              <a:solidFill>
                <a:schemeClr val="bg1"/>
              </a:solidFill>
              <a:latin typeface="Aptos"/>
              <a:ea typeface="Comfortaa Bold"/>
            </a:endParaRPr>
          </a:p>
        </p:txBody>
      </p:sp>
      <p:sp>
        <p:nvSpPr>
          <p:cNvPr id="10" name="Text 8"/>
          <p:cNvSpPr/>
          <p:nvPr/>
        </p:nvSpPr>
        <p:spPr>
          <a:xfrm>
            <a:off x="4509492" y="3162697"/>
            <a:ext cx="3172917" cy="87233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endParaRPr lang="en-US" sz="1000">
              <a:solidFill>
                <a:srgbClr val="000000"/>
              </a:solidFill>
              <a:latin typeface="Raleway Medium"/>
            </a:endParaRPr>
          </a:p>
        </p:txBody>
      </p:sp>
      <p:sp>
        <p:nvSpPr>
          <p:cNvPr id="11" name="Text 9"/>
          <p:cNvSpPr/>
          <p:nvPr/>
        </p:nvSpPr>
        <p:spPr>
          <a:xfrm>
            <a:off x="4509492" y="4116784"/>
            <a:ext cx="3172917" cy="87233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endParaRPr lang="en-US" sz="1000">
              <a:solidFill>
                <a:srgbClr val="000000"/>
              </a:solidFill>
              <a:latin typeface="Raleway Medium"/>
            </a:endParaRPr>
          </a:p>
        </p:txBody>
      </p:sp>
      <p:sp>
        <p:nvSpPr>
          <p:cNvPr id="12" name="Shape 10"/>
          <p:cNvSpPr/>
          <p:nvPr/>
        </p:nvSpPr>
        <p:spPr>
          <a:xfrm>
            <a:off x="7974112" y="2736255"/>
            <a:ext cx="3478623" cy="1535218"/>
          </a:xfrm>
          <a:prstGeom prst="roundRect">
            <a:avLst>
              <a:gd name="adj" fmla="val 8494"/>
            </a:avLst>
          </a:prstGeom>
          <a:solidFill>
            <a:srgbClr val="00B050"/>
          </a:solidFill>
          <a:ln w="22860">
            <a:solidFill>
              <a:srgbClr val="00B050"/>
            </a:solidFill>
            <a:prstDash val="solid"/>
          </a:ln>
        </p:spPr>
      </p:sp>
      <p:sp>
        <p:nvSpPr>
          <p:cNvPr id="13" name="Text 11"/>
          <p:cNvSpPr/>
          <p:nvPr/>
        </p:nvSpPr>
        <p:spPr>
          <a:xfrm>
            <a:off x="8916720" y="4456003"/>
            <a:ext cx="1601292"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1458"/>
              </a:lnSpc>
              <a:buNone/>
            </a:pPr>
            <a:r>
              <a:rPr lang="en-US" sz="1800" b="1">
                <a:solidFill>
                  <a:schemeClr val="bg1"/>
                </a:solidFill>
                <a:latin typeface="Aptos"/>
                <a:ea typeface="Comfortaa Bold"/>
                <a:cs typeface="Comfortaa Bold" pitchFamily="34" charset="-120"/>
              </a:rPr>
              <a:t>High Dimensionality</a:t>
            </a:r>
            <a:endParaRPr lang="en-US" sz="1800">
              <a:solidFill>
                <a:schemeClr val="bg1"/>
              </a:solidFill>
              <a:latin typeface="Aptos"/>
              <a:ea typeface="Comfortaa Bold"/>
            </a:endParaRPr>
          </a:p>
        </p:txBody>
      </p:sp>
      <p:sp>
        <p:nvSpPr>
          <p:cNvPr id="14" name="Text 12"/>
          <p:cNvSpPr/>
          <p:nvPr/>
        </p:nvSpPr>
        <p:spPr>
          <a:xfrm>
            <a:off x="8129488" y="3162697"/>
            <a:ext cx="3172917" cy="65424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endParaRPr lang="en-US" sz="1000">
              <a:solidFill>
                <a:srgbClr val="000000"/>
              </a:solidFill>
              <a:latin typeface="Raleway Medium"/>
            </a:endParaRPr>
          </a:p>
        </p:txBody>
      </p:sp>
      <p:sp>
        <p:nvSpPr>
          <p:cNvPr id="15" name="Text 13"/>
          <p:cNvSpPr/>
          <p:nvPr/>
        </p:nvSpPr>
        <p:spPr>
          <a:xfrm>
            <a:off x="8129488" y="3898702"/>
            <a:ext cx="3172917" cy="87233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endParaRPr lang="en-US" sz="1000">
              <a:solidFill>
                <a:srgbClr val="000000"/>
              </a:solidFill>
              <a:latin typeface="Raleway Medium"/>
            </a:endParaRPr>
          </a:p>
        </p:txBody>
      </p:sp>
      <p:sp>
        <p:nvSpPr>
          <p:cNvPr id="17" name="Rectangle 16">
            <a:extLst>
              <a:ext uri="{FF2B5EF4-FFF2-40B4-BE49-F238E27FC236}">
                <a16:creationId xmlns:a16="http://schemas.microsoft.com/office/drawing/2014/main" id="{0C7A27BF-EBA2-77D2-A8EB-99E47F5109DE}"/>
              </a:ext>
            </a:extLst>
          </p:cNvPr>
          <p:cNvSpPr/>
          <p:nvPr/>
        </p:nvSpPr>
        <p:spPr>
          <a:xfrm>
            <a:off x="10637721" y="6388688"/>
            <a:ext cx="1463443" cy="373430"/>
          </a:xfrm>
          <a:prstGeom prst="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18" name="Picture 17" descr="A black and green circle with a star in it&#10;&#10;AI-generated content may be incorrect.">
            <a:extLst>
              <a:ext uri="{FF2B5EF4-FFF2-40B4-BE49-F238E27FC236}">
                <a16:creationId xmlns:a16="http://schemas.microsoft.com/office/drawing/2014/main" id="{D88D7D70-E3D9-189F-B6C6-9FA4BE80145B}"/>
              </a:ext>
            </a:extLst>
          </p:cNvPr>
          <p:cNvPicPr>
            <a:picLocks noChangeAspect="1"/>
          </p:cNvPicPr>
          <p:nvPr/>
        </p:nvPicPr>
        <p:blipFill>
          <a:blip r:embed="rId3"/>
          <a:stretch>
            <a:fillRect/>
          </a:stretch>
        </p:blipFill>
        <p:spPr>
          <a:xfrm>
            <a:off x="11446563" y="242957"/>
            <a:ext cx="408610" cy="386523"/>
          </a:xfrm>
          <a:prstGeom prst="rect">
            <a:avLst/>
          </a:prstGeom>
        </p:spPr>
      </p:pic>
      <p:pic>
        <p:nvPicPr>
          <p:cNvPr id="16" name="Picture 15" descr="A green line with a white circle and a white line in the middle&#10;&#10;AI-generated content may be incorrect.">
            <a:extLst>
              <a:ext uri="{FF2B5EF4-FFF2-40B4-BE49-F238E27FC236}">
                <a16:creationId xmlns:a16="http://schemas.microsoft.com/office/drawing/2014/main" id="{C4C35494-8AAC-3C48-A73C-1E028022F02B}"/>
              </a:ext>
            </a:extLst>
          </p:cNvPr>
          <p:cNvPicPr>
            <a:picLocks noChangeAspect="1"/>
          </p:cNvPicPr>
          <p:nvPr/>
        </p:nvPicPr>
        <p:blipFill>
          <a:blip r:embed="rId4"/>
          <a:stretch>
            <a:fillRect/>
          </a:stretch>
        </p:blipFill>
        <p:spPr>
          <a:xfrm>
            <a:off x="3214688" y="5776912"/>
            <a:ext cx="4953000" cy="971550"/>
          </a:xfrm>
          <a:prstGeom prst="rect">
            <a:avLst/>
          </a:prstGeom>
        </p:spPr>
      </p:pic>
      <p:sp>
        <p:nvSpPr>
          <p:cNvPr id="23" name="TextBox 22">
            <a:extLst>
              <a:ext uri="{FF2B5EF4-FFF2-40B4-BE49-F238E27FC236}">
                <a16:creationId xmlns:a16="http://schemas.microsoft.com/office/drawing/2014/main" id="{1A2140EF-6B07-56BF-C61A-C3D7F04AE7AD}"/>
              </a:ext>
            </a:extLst>
          </p:cNvPr>
          <p:cNvSpPr txBox="1"/>
          <p:nvPr/>
        </p:nvSpPr>
        <p:spPr>
          <a:xfrm>
            <a:off x="726674" y="2825959"/>
            <a:ext cx="348198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latin typeface="Aptos"/>
                <a:cs typeface="Mangal"/>
              </a:rPr>
              <a:t>140+ HOURS </a:t>
            </a:r>
            <a:r>
              <a:rPr lang="en-US" sz="3600" b="1">
                <a:latin typeface="Aptos"/>
                <a:cs typeface="Mangal"/>
              </a:rPr>
              <a:t>AUDIO</a:t>
            </a:r>
          </a:p>
        </p:txBody>
      </p:sp>
      <p:sp>
        <p:nvSpPr>
          <p:cNvPr id="24" name="TextBox 23">
            <a:extLst>
              <a:ext uri="{FF2B5EF4-FFF2-40B4-BE49-F238E27FC236}">
                <a16:creationId xmlns:a16="http://schemas.microsoft.com/office/drawing/2014/main" id="{4779E6F2-2B15-344D-36AF-AA0A4DA5615B}"/>
              </a:ext>
            </a:extLst>
          </p:cNvPr>
          <p:cNvSpPr txBox="1"/>
          <p:nvPr/>
        </p:nvSpPr>
        <p:spPr>
          <a:xfrm>
            <a:off x="4466026" y="2825960"/>
            <a:ext cx="325994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t>POOR FEATURES</a:t>
            </a:r>
            <a:endParaRPr lang="en-US" sz="4000"/>
          </a:p>
        </p:txBody>
      </p:sp>
      <p:sp>
        <p:nvSpPr>
          <p:cNvPr id="42" name="TextBox 41">
            <a:extLst>
              <a:ext uri="{FF2B5EF4-FFF2-40B4-BE49-F238E27FC236}">
                <a16:creationId xmlns:a16="http://schemas.microsoft.com/office/drawing/2014/main" id="{DBB34FC2-C7E3-6DCD-8390-233DF384A399}"/>
              </a:ext>
            </a:extLst>
          </p:cNvPr>
          <p:cNvSpPr txBox="1"/>
          <p:nvPr/>
        </p:nvSpPr>
        <p:spPr>
          <a:xfrm>
            <a:off x="7973245" y="3161545"/>
            <a:ext cx="3492081"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latin typeface="Aptos"/>
              </a:rPr>
              <a:t>OVERFITTING</a:t>
            </a:r>
            <a:endParaRPr lang="en-US" sz="4000"/>
          </a:p>
          <a:p>
            <a:pPr algn="ctr"/>
            <a:endParaRPr lang="en-US"/>
          </a:p>
        </p:txBody>
      </p:sp>
    </p:spTree>
    <p:extLst>
      <p:ext uri="{BB962C8B-B14F-4D97-AF65-F5344CB8AC3E}">
        <p14:creationId xmlns:p14="http://schemas.microsoft.com/office/powerpoint/2010/main" val="3056033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63A3F17-B9A5-74DA-8AC9-58E993DB1035}"/>
              </a:ext>
            </a:extLst>
          </p:cNvPr>
          <p:cNvSpPr/>
          <p:nvPr/>
        </p:nvSpPr>
        <p:spPr>
          <a:xfrm>
            <a:off x="729173" y="1334932"/>
            <a:ext cx="5517058" cy="37871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958"/>
              </a:lnSpc>
              <a:buNone/>
            </a:pPr>
            <a:r>
              <a:rPr lang="en-US" sz="3500" b="1">
                <a:solidFill>
                  <a:srgbClr val="00B050"/>
                </a:solidFill>
                <a:latin typeface="Aptos"/>
                <a:ea typeface="Comfortaa Bold"/>
                <a:cs typeface="Comfortaa Bold" pitchFamily="34" charset="-120"/>
              </a:rPr>
              <a:t>Challenges &amp; Mitigation Strategies</a:t>
            </a:r>
            <a:endParaRPr lang="en-US" sz="3500">
              <a:solidFill>
                <a:srgbClr val="00B050"/>
              </a:solidFill>
              <a:latin typeface="Aptos"/>
            </a:endParaRPr>
          </a:p>
        </p:txBody>
      </p:sp>
      <p:sp>
        <p:nvSpPr>
          <p:cNvPr id="5" name="Text 1">
            <a:extLst>
              <a:ext uri="{FF2B5EF4-FFF2-40B4-BE49-F238E27FC236}">
                <a16:creationId xmlns:a16="http://schemas.microsoft.com/office/drawing/2014/main" id="{59D5A3BC-6707-06A4-0811-6C906604BD86}"/>
              </a:ext>
            </a:extLst>
          </p:cNvPr>
          <p:cNvSpPr/>
          <p:nvPr/>
        </p:nvSpPr>
        <p:spPr>
          <a:xfrm>
            <a:off x="734219" y="1819774"/>
            <a:ext cx="10723563" cy="2180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r>
              <a:rPr lang="en-US" sz="1600">
                <a:solidFill>
                  <a:schemeClr val="bg1"/>
                </a:solidFill>
                <a:latin typeface="Aptos"/>
                <a:ea typeface="Raleway Medium" pitchFamily="34" charset="-122"/>
                <a:cs typeface="Raleway Medium" pitchFamily="34" charset="-120"/>
              </a:rPr>
              <a:t>We have identified three primary technical challenges and developed mitigation approaches for each.</a:t>
            </a:r>
            <a:endParaRPr lang="en-US" sz="1600">
              <a:solidFill>
                <a:schemeClr val="bg1"/>
              </a:solidFill>
              <a:latin typeface="Aptos"/>
            </a:endParaRPr>
          </a:p>
        </p:txBody>
      </p:sp>
      <p:sp>
        <p:nvSpPr>
          <p:cNvPr id="7" name="Shape 2">
            <a:extLst>
              <a:ext uri="{FF2B5EF4-FFF2-40B4-BE49-F238E27FC236}">
                <a16:creationId xmlns:a16="http://schemas.microsoft.com/office/drawing/2014/main" id="{05BCB9DD-43A0-BD03-43F8-29AC55AF8647}"/>
              </a:ext>
            </a:extLst>
          </p:cNvPr>
          <p:cNvSpPr/>
          <p:nvPr/>
        </p:nvSpPr>
        <p:spPr>
          <a:xfrm>
            <a:off x="734219" y="2736255"/>
            <a:ext cx="3483570" cy="2791761"/>
          </a:xfrm>
          <a:prstGeom prst="roundRect">
            <a:avLst>
              <a:gd name="adj" fmla="val 8494"/>
            </a:avLst>
          </a:prstGeom>
          <a:solidFill>
            <a:srgbClr val="00B050"/>
          </a:solidFill>
          <a:ln w="22860">
            <a:solidFill>
              <a:srgbClr val="00B050"/>
            </a:solidFill>
            <a:prstDash val="solid"/>
          </a:ln>
        </p:spPr>
      </p:sp>
      <p:sp>
        <p:nvSpPr>
          <p:cNvPr id="9" name="Text 3">
            <a:extLst>
              <a:ext uri="{FF2B5EF4-FFF2-40B4-BE49-F238E27FC236}">
                <a16:creationId xmlns:a16="http://schemas.microsoft.com/office/drawing/2014/main" id="{31ABC31E-2EE0-8DCF-4930-F49CEE138263}"/>
              </a:ext>
            </a:extLst>
          </p:cNvPr>
          <p:cNvSpPr/>
          <p:nvPr/>
        </p:nvSpPr>
        <p:spPr>
          <a:xfrm>
            <a:off x="1681873" y="2891632"/>
            <a:ext cx="1590080"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1458"/>
              </a:lnSpc>
              <a:buNone/>
            </a:pPr>
            <a:r>
              <a:rPr lang="en-US" sz="1800" b="1">
                <a:solidFill>
                  <a:srgbClr val="000000"/>
                </a:solidFill>
                <a:latin typeface="Aptos"/>
                <a:ea typeface="Comfortaa Bold"/>
                <a:cs typeface="Comfortaa Bold" pitchFamily="34" charset="-120"/>
              </a:rPr>
              <a:t>Computational Cost</a:t>
            </a:r>
            <a:endParaRPr lang="en-US" sz="1800" b="1">
              <a:solidFill>
                <a:srgbClr val="000000"/>
              </a:solidFill>
              <a:latin typeface="Aptos"/>
              <a:ea typeface="Comfortaa Bold"/>
              <a:cs typeface="Browallia New"/>
            </a:endParaRPr>
          </a:p>
        </p:txBody>
      </p:sp>
      <p:sp>
        <p:nvSpPr>
          <p:cNvPr id="11" name="Text 4">
            <a:extLst>
              <a:ext uri="{FF2B5EF4-FFF2-40B4-BE49-F238E27FC236}">
                <a16:creationId xmlns:a16="http://schemas.microsoft.com/office/drawing/2014/main" id="{1A0DB510-E235-F15C-F43C-33D9FE5D30CA}"/>
              </a:ext>
            </a:extLst>
          </p:cNvPr>
          <p:cNvSpPr/>
          <p:nvPr/>
        </p:nvSpPr>
        <p:spPr>
          <a:xfrm>
            <a:off x="889595" y="3162697"/>
            <a:ext cx="3172818" cy="87233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endParaRPr lang="en-US" sz="1000">
              <a:solidFill>
                <a:srgbClr val="000000"/>
              </a:solidFill>
              <a:latin typeface="Raleway Medium"/>
            </a:endParaRPr>
          </a:p>
        </p:txBody>
      </p:sp>
      <p:sp>
        <p:nvSpPr>
          <p:cNvPr id="13" name="Text 5">
            <a:extLst>
              <a:ext uri="{FF2B5EF4-FFF2-40B4-BE49-F238E27FC236}">
                <a16:creationId xmlns:a16="http://schemas.microsoft.com/office/drawing/2014/main" id="{B9AE9643-D3AC-D1B5-76C2-58DA714D43E9}"/>
              </a:ext>
            </a:extLst>
          </p:cNvPr>
          <p:cNvSpPr/>
          <p:nvPr/>
        </p:nvSpPr>
        <p:spPr>
          <a:xfrm>
            <a:off x="889595" y="4116784"/>
            <a:ext cx="3172818" cy="87233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endParaRPr lang="en-US" sz="1000">
              <a:solidFill>
                <a:srgbClr val="000000"/>
              </a:solidFill>
              <a:latin typeface="Raleway Medium"/>
            </a:endParaRPr>
          </a:p>
        </p:txBody>
      </p:sp>
      <p:sp>
        <p:nvSpPr>
          <p:cNvPr id="15" name="Shape 6">
            <a:extLst>
              <a:ext uri="{FF2B5EF4-FFF2-40B4-BE49-F238E27FC236}">
                <a16:creationId xmlns:a16="http://schemas.microsoft.com/office/drawing/2014/main" id="{AE927D81-FFC3-C438-6615-8FDA80AABFD6}"/>
              </a:ext>
            </a:extLst>
          </p:cNvPr>
          <p:cNvSpPr/>
          <p:nvPr/>
        </p:nvSpPr>
        <p:spPr>
          <a:xfrm>
            <a:off x="4369255" y="2736255"/>
            <a:ext cx="3453391" cy="2791761"/>
          </a:xfrm>
          <a:prstGeom prst="roundRect">
            <a:avLst>
              <a:gd name="adj" fmla="val 8494"/>
            </a:avLst>
          </a:prstGeom>
          <a:solidFill>
            <a:srgbClr val="00B050"/>
          </a:solidFill>
          <a:ln w="22860">
            <a:solidFill>
              <a:srgbClr val="00B050"/>
            </a:solidFill>
            <a:prstDash val="solid"/>
          </a:ln>
        </p:spPr>
      </p:sp>
      <p:sp>
        <p:nvSpPr>
          <p:cNvPr id="17" name="Text 7">
            <a:extLst>
              <a:ext uri="{FF2B5EF4-FFF2-40B4-BE49-F238E27FC236}">
                <a16:creationId xmlns:a16="http://schemas.microsoft.com/office/drawing/2014/main" id="{E1D295EC-01D5-5646-A9E3-9DFD20ECDE18}"/>
              </a:ext>
            </a:extLst>
          </p:cNvPr>
          <p:cNvSpPr/>
          <p:nvPr/>
        </p:nvSpPr>
        <p:spPr>
          <a:xfrm>
            <a:off x="5337096" y="2891632"/>
            <a:ext cx="1515169"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1458"/>
              </a:lnSpc>
              <a:buNone/>
            </a:pPr>
            <a:r>
              <a:rPr lang="en-US" sz="1800" b="1">
                <a:solidFill>
                  <a:srgbClr val="000000"/>
                </a:solidFill>
                <a:latin typeface="Aptos"/>
                <a:ea typeface="Comfortaa Bold"/>
                <a:cs typeface="Comfortaa Bold" pitchFamily="34" charset="-120"/>
              </a:rPr>
              <a:t>Separation Quality</a:t>
            </a:r>
            <a:endParaRPr lang="en-US" sz="1800">
              <a:solidFill>
                <a:srgbClr val="000000"/>
              </a:solidFill>
              <a:latin typeface="Aptos"/>
              <a:ea typeface="Comfortaa Bold"/>
            </a:endParaRPr>
          </a:p>
        </p:txBody>
      </p:sp>
      <p:sp>
        <p:nvSpPr>
          <p:cNvPr id="19" name="Text 8">
            <a:extLst>
              <a:ext uri="{FF2B5EF4-FFF2-40B4-BE49-F238E27FC236}">
                <a16:creationId xmlns:a16="http://schemas.microsoft.com/office/drawing/2014/main" id="{9ECE75E8-280A-03E3-625B-3E90C9E8787C}"/>
              </a:ext>
            </a:extLst>
          </p:cNvPr>
          <p:cNvSpPr/>
          <p:nvPr/>
        </p:nvSpPr>
        <p:spPr>
          <a:xfrm>
            <a:off x="4509492" y="3162697"/>
            <a:ext cx="3172917" cy="87233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endParaRPr lang="en-US" sz="1000">
              <a:solidFill>
                <a:srgbClr val="000000"/>
              </a:solidFill>
              <a:latin typeface="Raleway Medium"/>
            </a:endParaRPr>
          </a:p>
        </p:txBody>
      </p:sp>
      <p:sp>
        <p:nvSpPr>
          <p:cNvPr id="21" name="Text 9">
            <a:extLst>
              <a:ext uri="{FF2B5EF4-FFF2-40B4-BE49-F238E27FC236}">
                <a16:creationId xmlns:a16="http://schemas.microsoft.com/office/drawing/2014/main" id="{8E616FEC-1B21-0BFB-2CD4-52EF27D41429}"/>
              </a:ext>
            </a:extLst>
          </p:cNvPr>
          <p:cNvSpPr/>
          <p:nvPr/>
        </p:nvSpPr>
        <p:spPr>
          <a:xfrm>
            <a:off x="4509492" y="4116784"/>
            <a:ext cx="3172917" cy="87233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endParaRPr lang="en-US" sz="1000">
              <a:solidFill>
                <a:srgbClr val="000000"/>
              </a:solidFill>
              <a:latin typeface="Raleway Medium"/>
            </a:endParaRPr>
          </a:p>
        </p:txBody>
      </p:sp>
      <p:sp>
        <p:nvSpPr>
          <p:cNvPr id="23" name="Shape 10">
            <a:extLst>
              <a:ext uri="{FF2B5EF4-FFF2-40B4-BE49-F238E27FC236}">
                <a16:creationId xmlns:a16="http://schemas.microsoft.com/office/drawing/2014/main" id="{8AB1056E-1FD4-3C26-62E2-BC35076953C5}"/>
              </a:ext>
            </a:extLst>
          </p:cNvPr>
          <p:cNvSpPr/>
          <p:nvPr/>
        </p:nvSpPr>
        <p:spPr>
          <a:xfrm>
            <a:off x="7974112" y="2736255"/>
            <a:ext cx="3483669" cy="2791761"/>
          </a:xfrm>
          <a:prstGeom prst="roundRect">
            <a:avLst>
              <a:gd name="adj" fmla="val 8494"/>
            </a:avLst>
          </a:prstGeom>
          <a:solidFill>
            <a:srgbClr val="00B050"/>
          </a:solidFill>
          <a:ln w="22860">
            <a:solidFill>
              <a:srgbClr val="00B050"/>
            </a:solidFill>
            <a:prstDash val="solid"/>
          </a:ln>
        </p:spPr>
      </p:sp>
      <p:sp>
        <p:nvSpPr>
          <p:cNvPr id="25" name="Text 11">
            <a:extLst>
              <a:ext uri="{FF2B5EF4-FFF2-40B4-BE49-F238E27FC236}">
                <a16:creationId xmlns:a16="http://schemas.microsoft.com/office/drawing/2014/main" id="{43838A77-307C-4EDA-3104-A6E4497589E7}"/>
              </a:ext>
            </a:extLst>
          </p:cNvPr>
          <p:cNvSpPr/>
          <p:nvPr/>
        </p:nvSpPr>
        <p:spPr>
          <a:xfrm>
            <a:off x="8916720" y="2891632"/>
            <a:ext cx="1601292" cy="1893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1458"/>
              </a:lnSpc>
              <a:buNone/>
            </a:pPr>
            <a:r>
              <a:rPr lang="en-US" sz="1800" b="1">
                <a:solidFill>
                  <a:srgbClr val="000000"/>
                </a:solidFill>
                <a:latin typeface="Aptos"/>
                <a:ea typeface="Comfortaa Bold"/>
                <a:cs typeface="Comfortaa Bold" pitchFamily="34" charset="-120"/>
              </a:rPr>
              <a:t>High Dimensionality</a:t>
            </a:r>
            <a:endParaRPr lang="en-US" sz="1800">
              <a:solidFill>
                <a:srgbClr val="000000"/>
              </a:solidFill>
              <a:latin typeface="Aptos"/>
              <a:ea typeface="Comfortaa Bold"/>
            </a:endParaRPr>
          </a:p>
        </p:txBody>
      </p:sp>
      <p:sp>
        <p:nvSpPr>
          <p:cNvPr id="27" name="Text 12">
            <a:extLst>
              <a:ext uri="{FF2B5EF4-FFF2-40B4-BE49-F238E27FC236}">
                <a16:creationId xmlns:a16="http://schemas.microsoft.com/office/drawing/2014/main" id="{E7ADBD45-E5FB-3E0C-F693-92AC090FAF51}"/>
              </a:ext>
            </a:extLst>
          </p:cNvPr>
          <p:cNvSpPr/>
          <p:nvPr/>
        </p:nvSpPr>
        <p:spPr>
          <a:xfrm>
            <a:off x="8129488" y="3162697"/>
            <a:ext cx="3172917" cy="65424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endParaRPr lang="en-US" sz="1000">
              <a:solidFill>
                <a:srgbClr val="000000"/>
              </a:solidFill>
              <a:latin typeface="Raleway Medium"/>
            </a:endParaRPr>
          </a:p>
        </p:txBody>
      </p:sp>
      <p:sp>
        <p:nvSpPr>
          <p:cNvPr id="29" name="Text 13">
            <a:extLst>
              <a:ext uri="{FF2B5EF4-FFF2-40B4-BE49-F238E27FC236}">
                <a16:creationId xmlns:a16="http://schemas.microsoft.com/office/drawing/2014/main" id="{5E410892-E8AA-A95E-5E64-64E5489C0E8E}"/>
              </a:ext>
            </a:extLst>
          </p:cNvPr>
          <p:cNvSpPr/>
          <p:nvPr/>
        </p:nvSpPr>
        <p:spPr>
          <a:xfrm>
            <a:off x="8129488" y="3898702"/>
            <a:ext cx="3172917" cy="87233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708"/>
              </a:lnSpc>
              <a:buNone/>
            </a:pPr>
            <a:endParaRPr lang="en-US" sz="1000">
              <a:solidFill>
                <a:srgbClr val="000000"/>
              </a:solidFill>
              <a:latin typeface="Raleway Medium"/>
            </a:endParaRPr>
          </a:p>
        </p:txBody>
      </p:sp>
      <p:sp>
        <p:nvSpPr>
          <p:cNvPr id="31" name="Rectangle 30">
            <a:extLst>
              <a:ext uri="{FF2B5EF4-FFF2-40B4-BE49-F238E27FC236}">
                <a16:creationId xmlns:a16="http://schemas.microsoft.com/office/drawing/2014/main" id="{0FCCBDAA-4928-B649-ECE2-F90EEC0E2D58}"/>
              </a:ext>
            </a:extLst>
          </p:cNvPr>
          <p:cNvSpPr/>
          <p:nvPr/>
        </p:nvSpPr>
        <p:spPr>
          <a:xfrm>
            <a:off x="10637721" y="6388688"/>
            <a:ext cx="1463443" cy="373430"/>
          </a:xfrm>
          <a:prstGeom prst="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sp>
        <p:nvSpPr>
          <p:cNvPr id="33" name="TextBox 32">
            <a:extLst>
              <a:ext uri="{FF2B5EF4-FFF2-40B4-BE49-F238E27FC236}">
                <a16:creationId xmlns:a16="http://schemas.microsoft.com/office/drawing/2014/main" id="{175324C5-3CAC-E52E-E445-DA0324E219E0}"/>
              </a:ext>
            </a:extLst>
          </p:cNvPr>
          <p:cNvSpPr txBox="1"/>
          <p:nvPr/>
        </p:nvSpPr>
        <p:spPr>
          <a:xfrm>
            <a:off x="802370" y="3164066"/>
            <a:ext cx="3350781" cy="24314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000000"/>
                </a:solidFill>
                <a:ea typeface="+mn-lt"/>
                <a:cs typeface="+mn-lt"/>
              </a:rPr>
              <a:t>Challenge:</a:t>
            </a:r>
            <a:endParaRPr lang="en-US" sz="1400">
              <a:solidFill>
                <a:srgbClr val="000000"/>
              </a:solidFill>
            </a:endParaRPr>
          </a:p>
          <a:p>
            <a:pPr marL="285750" indent="-285750">
              <a:buFont typeface="Arial"/>
              <a:buChar char="•"/>
            </a:pPr>
            <a:r>
              <a:rPr lang="en-US" sz="1400">
                <a:solidFill>
                  <a:srgbClr val="000000"/>
                </a:solidFill>
                <a:ea typeface="+mn-lt"/>
                <a:cs typeface="+mn-lt"/>
              </a:rPr>
              <a:t>140 hours of audio: High computational resources &amp; time.</a:t>
            </a:r>
            <a:endParaRPr lang="en-US" sz="1400">
              <a:solidFill>
                <a:srgbClr val="000000"/>
              </a:solidFill>
            </a:endParaRPr>
          </a:p>
          <a:p>
            <a:pPr marL="285750" indent="-285750">
              <a:buFont typeface="Arial"/>
              <a:buChar char="•"/>
            </a:pPr>
            <a:r>
              <a:rPr lang="en-US" sz="1400">
                <a:solidFill>
                  <a:srgbClr val="000000"/>
                </a:solidFill>
                <a:ea typeface="+mn-lt"/>
                <a:cs typeface="+mn-lt"/>
              </a:rPr>
              <a:t>Risk: Development delays.</a:t>
            </a:r>
            <a:endParaRPr lang="en-US" sz="1400">
              <a:solidFill>
                <a:srgbClr val="000000"/>
              </a:solidFill>
            </a:endParaRPr>
          </a:p>
          <a:p>
            <a:endParaRPr lang="en-US" sz="1400">
              <a:solidFill>
                <a:srgbClr val="000000"/>
              </a:solidFill>
            </a:endParaRPr>
          </a:p>
          <a:p>
            <a:r>
              <a:rPr lang="en-US" sz="1400">
                <a:solidFill>
                  <a:srgbClr val="000000"/>
                </a:solidFill>
                <a:ea typeface="+mn-lt"/>
                <a:cs typeface="+mn-lt"/>
              </a:rPr>
              <a:t>Mitigation:</a:t>
            </a:r>
            <a:endParaRPr lang="en-US" sz="1400">
              <a:solidFill>
                <a:srgbClr val="000000"/>
              </a:solidFill>
            </a:endParaRPr>
          </a:p>
          <a:p>
            <a:pPr marL="285750" indent="-285750">
              <a:buFont typeface="Arial"/>
              <a:buChar char="•"/>
            </a:pPr>
            <a:r>
              <a:rPr lang="en-US" sz="1400">
                <a:solidFill>
                  <a:srgbClr val="000000"/>
                </a:solidFill>
                <a:ea typeface="+mn-lt"/>
                <a:cs typeface="+mn-lt"/>
              </a:rPr>
              <a:t>Parallel Processing (multi-core).</a:t>
            </a:r>
            <a:endParaRPr lang="en-US" sz="1400">
              <a:solidFill>
                <a:srgbClr val="000000"/>
              </a:solidFill>
            </a:endParaRPr>
          </a:p>
          <a:p>
            <a:pPr marL="285750" indent="-285750">
              <a:buFont typeface="Arial"/>
              <a:buChar char="•"/>
            </a:pPr>
            <a:r>
              <a:rPr lang="en-US" sz="1400">
                <a:solidFill>
                  <a:srgbClr val="000000"/>
                </a:solidFill>
                <a:ea typeface="+mn-lt"/>
                <a:cs typeface="+mn-lt"/>
              </a:rPr>
              <a:t>Cache extracted features (disk reuse).</a:t>
            </a:r>
            <a:endParaRPr lang="en-US" sz="1400">
              <a:solidFill>
                <a:srgbClr val="000000"/>
              </a:solidFill>
            </a:endParaRPr>
          </a:p>
          <a:p>
            <a:pPr marL="285750" indent="-285750">
              <a:buFont typeface="Arial"/>
              <a:buChar char="•"/>
            </a:pPr>
            <a:r>
              <a:rPr lang="en-US" sz="1400">
                <a:solidFill>
                  <a:srgbClr val="000000"/>
                </a:solidFill>
                <a:ea typeface="+mn-lt"/>
                <a:cs typeface="+mn-lt"/>
              </a:rPr>
              <a:t>Prioritize efficient algorithms.</a:t>
            </a:r>
            <a:endParaRPr lang="en-US" sz="1400">
              <a:solidFill>
                <a:srgbClr val="000000"/>
              </a:solidFill>
            </a:endParaRPr>
          </a:p>
          <a:p>
            <a:pPr algn="l"/>
            <a:endParaRPr lang="en-US" sz="1200">
              <a:solidFill>
                <a:srgbClr val="000000"/>
              </a:solidFill>
            </a:endParaRPr>
          </a:p>
        </p:txBody>
      </p:sp>
      <p:sp>
        <p:nvSpPr>
          <p:cNvPr id="35" name="TextBox 34">
            <a:extLst>
              <a:ext uri="{FF2B5EF4-FFF2-40B4-BE49-F238E27FC236}">
                <a16:creationId xmlns:a16="http://schemas.microsoft.com/office/drawing/2014/main" id="{CD06686B-9A04-B357-2CAA-796FFBEC0DBA}"/>
              </a:ext>
            </a:extLst>
          </p:cNvPr>
          <p:cNvSpPr txBox="1"/>
          <p:nvPr/>
        </p:nvSpPr>
        <p:spPr>
          <a:xfrm>
            <a:off x="4385284" y="3169112"/>
            <a:ext cx="3421430"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000000"/>
                </a:solidFill>
                <a:ea typeface="+mn-lt"/>
                <a:cs typeface="+mn-lt"/>
              </a:rPr>
              <a:t>Challenge:</a:t>
            </a:r>
            <a:endParaRPr lang="en-US" sz="1400">
              <a:solidFill>
                <a:srgbClr val="000000"/>
              </a:solidFill>
            </a:endParaRPr>
          </a:p>
          <a:p>
            <a:pPr marL="285750" indent="-285750">
              <a:buFont typeface="Arial"/>
              <a:buChar char="•"/>
            </a:pPr>
            <a:r>
              <a:rPr lang="en-US" sz="1400">
                <a:solidFill>
                  <a:srgbClr val="000000"/>
                </a:solidFill>
                <a:ea typeface="+mn-lt"/>
                <a:cs typeface="+mn-lt"/>
              </a:rPr>
              <a:t>Source Separation Imperfections </a:t>
            </a:r>
            <a:endParaRPr lang="en-US" sz="1400">
              <a:solidFill>
                <a:srgbClr val="000000"/>
              </a:solidFill>
            </a:endParaRPr>
          </a:p>
          <a:p>
            <a:pPr marL="285750" indent="-285750">
              <a:buFont typeface="Arial"/>
              <a:buChar char="•"/>
            </a:pPr>
            <a:r>
              <a:rPr lang="en-US" sz="1400">
                <a:solidFill>
                  <a:srgbClr val="000000"/>
                </a:solidFill>
                <a:ea typeface="+mn-lt"/>
                <a:cs typeface="+mn-lt"/>
              </a:rPr>
              <a:t>Risk: Artifacts (bleeding, phase distortion) may affect feature quality.</a:t>
            </a:r>
            <a:endParaRPr lang="en-US" sz="1400">
              <a:solidFill>
                <a:srgbClr val="000000"/>
              </a:solidFill>
            </a:endParaRPr>
          </a:p>
          <a:p>
            <a:endParaRPr lang="en-US" sz="1400">
              <a:solidFill>
                <a:srgbClr val="000000"/>
              </a:solidFill>
            </a:endParaRPr>
          </a:p>
          <a:p>
            <a:r>
              <a:rPr lang="en-US" sz="1400">
                <a:solidFill>
                  <a:srgbClr val="000000"/>
                </a:solidFill>
                <a:ea typeface="+mn-lt"/>
                <a:cs typeface="+mn-lt"/>
              </a:rPr>
              <a:t>Mitigation:</a:t>
            </a:r>
            <a:endParaRPr lang="en-US" sz="1400">
              <a:solidFill>
                <a:srgbClr val="000000"/>
              </a:solidFill>
            </a:endParaRPr>
          </a:p>
          <a:p>
            <a:pPr marL="285750" indent="-285750">
              <a:buFont typeface="Arial"/>
              <a:buChar char="•"/>
            </a:pPr>
            <a:r>
              <a:rPr lang="en-US" sz="1400">
                <a:solidFill>
                  <a:srgbClr val="000000"/>
                </a:solidFill>
                <a:ea typeface="+mn-lt"/>
                <a:cs typeface="+mn-lt"/>
              </a:rPr>
              <a:t>Select features known to be robust to separation artifacts.</a:t>
            </a:r>
            <a:endParaRPr lang="en-US" sz="1400">
              <a:solidFill>
                <a:srgbClr val="000000"/>
              </a:solidFill>
            </a:endParaRPr>
          </a:p>
          <a:p>
            <a:pPr marL="285750" indent="-285750">
              <a:buFont typeface="Arial"/>
              <a:buChar char="•"/>
            </a:pPr>
            <a:r>
              <a:rPr lang="en-US" sz="1400">
                <a:solidFill>
                  <a:srgbClr val="000000"/>
                </a:solidFill>
                <a:ea typeface="+mn-lt"/>
                <a:cs typeface="+mn-lt"/>
              </a:rPr>
              <a:t>Validate separation quality on a subset before full-scale processing.</a:t>
            </a:r>
            <a:endParaRPr lang="en-US" sz="1400">
              <a:solidFill>
                <a:srgbClr val="000000"/>
              </a:solidFill>
            </a:endParaRPr>
          </a:p>
          <a:p>
            <a:pPr algn="l"/>
            <a:endParaRPr lang="en-US" sz="1400">
              <a:solidFill>
                <a:srgbClr val="000000"/>
              </a:solidFill>
            </a:endParaRPr>
          </a:p>
        </p:txBody>
      </p:sp>
      <p:sp>
        <p:nvSpPr>
          <p:cNvPr id="37" name="TextBox 36">
            <a:extLst>
              <a:ext uri="{FF2B5EF4-FFF2-40B4-BE49-F238E27FC236}">
                <a16:creationId xmlns:a16="http://schemas.microsoft.com/office/drawing/2014/main" id="{485D4550-CD9E-36BF-5349-015870ACFC7C}"/>
              </a:ext>
            </a:extLst>
          </p:cNvPr>
          <p:cNvSpPr txBox="1"/>
          <p:nvPr/>
        </p:nvSpPr>
        <p:spPr>
          <a:xfrm>
            <a:off x="8043894" y="3179205"/>
            <a:ext cx="3340688"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000000"/>
                </a:solidFill>
                <a:ea typeface="+mn-lt"/>
                <a:cs typeface="+mn-lt"/>
              </a:rPr>
              <a:t>Challenge:</a:t>
            </a:r>
            <a:endParaRPr lang="en-US" sz="1400">
              <a:solidFill>
                <a:srgbClr val="000000"/>
              </a:solidFill>
            </a:endParaRPr>
          </a:p>
          <a:p>
            <a:pPr marL="285750" indent="-285750">
              <a:buFont typeface="Arial"/>
              <a:buChar char="•"/>
            </a:pPr>
            <a:r>
              <a:rPr lang="en-US" sz="1400">
                <a:solidFill>
                  <a:srgbClr val="000000"/>
                </a:solidFill>
                <a:ea typeface="+mn-lt"/>
                <a:cs typeface="+mn-lt"/>
              </a:rPr>
              <a:t>Large feature vectors (many features, multiple stems).</a:t>
            </a:r>
            <a:endParaRPr lang="en-US" sz="1400">
              <a:solidFill>
                <a:srgbClr val="000000"/>
              </a:solidFill>
            </a:endParaRPr>
          </a:p>
          <a:p>
            <a:pPr marL="285750" indent="-285750">
              <a:buFont typeface="Arial"/>
              <a:buChar char="•"/>
            </a:pPr>
            <a:r>
              <a:rPr lang="en-US" sz="1400">
                <a:solidFill>
                  <a:srgbClr val="000000"/>
                </a:solidFill>
                <a:ea typeface="+mn-lt"/>
                <a:cs typeface="+mn-lt"/>
              </a:rPr>
              <a:t>Risks: Overfitting.</a:t>
            </a:r>
            <a:endParaRPr lang="en-US" sz="1400">
              <a:solidFill>
                <a:srgbClr val="000000"/>
              </a:solidFill>
            </a:endParaRPr>
          </a:p>
          <a:p>
            <a:endParaRPr lang="en-US" sz="1400">
              <a:solidFill>
                <a:srgbClr val="000000"/>
              </a:solidFill>
            </a:endParaRPr>
          </a:p>
          <a:p>
            <a:r>
              <a:rPr lang="en-US" sz="1400">
                <a:solidFill>
                  <a:srgbClr val="000000"/>
                </a:solidFill>
                <a:ea typeface="+mn-lt"/>
                <a:cs typeface="+mn-lt"/>
              </a:rPr>
              <a:t>Mitigation:</a:t>
            </a:r>
            <a:endParaRPr lang="en-US" sz="1400">
              <a:solidFill>
                <a:srgbClr val="000000"/>
              </a:solidFill>
            </a:endParaRPr>
          </a:p>
          <a:p>
            <a:pPr marL="285750" indent="-285750">
              <a:buFont typeface="Arial"/>
              <a:buChar char="•"/>
            </a:pPr>
            <a:r>
              <a:rPr lang="en-US" sz="1400">
                <a:solidFill>
                  <a:srgbClr val="000000"/>
                </a:solidFill>
                <a:ea typeface="+mn-lt"/>
                <a:cs typeface="+mn-lt"/>
              </a:rPr>
              <a:t>Feature Selection techniques.</a:t>
            </a:r>
            <a:endParaRPr lang="en-US" sz="1400">
              <a:solidFill>
                <a:srgbClr val="000000"/>
              </a:solidFill>
            </a:endParaRPr>
          </a:p>
          <a:p>
            <a:pPr marL="285750" indent="-285750">
              <a:buFont typeface="Arial"/>
              <a:buChar char="•"/>
            </a:pPr>
            <a:r>
              <a:rPr lang="en-US" sz="1400">
                <a:solidFill>
                  <a:srgbClr val="000000"/>
                </a:solidFill>
                <a:ea typeface="+mn-lt"/>
                <a:cs typeface="+mn-lt"/>
              </a:rPr>
              <a:t>Dimensionality Reduction (e.g., PCA).</a:t>
            </a:r>
            <a:endParaRPr lang="en-US" sz="1400">
              <a:solidFill>
                <a:srgbClr val="000000"/>
              </a:solidFill>
            </a:endParaRPr>
          </a:p>
          <a:p>
            <a:pPr marL="285750" indent="-285750">
              <a:buFont typeface="Arial"/>
              <a:buChar char="•"/>
            </a:pPr>
            <a:r>
              <a:rPr lang="en-US" sz="1400">
                <a:solidFill>
                  <a:srgbClr val="000000"/>
                </a:solidFill>
                <a:ea typeface="+mn-lt"/>
                <a:cs typeface="+mn-lt"/>
              </a:rPr>
              <a:t>Apply Regularization.</a:t>
            </a:r>
            <a:endParaRPr lang="en-US" sz="1400">
              <a:solidFill>
                <a:srgbClr val="000000"/>
              </a:solidFill>
            </a:endParaRPr>
          </a:p>
          <a:p>
            <a:pPr algn="l"/>
            <a:endParaRPr lang="en-US" sz="1400">
              <a:solidFill>
                <a:srgbClr val="000000"/>
              </a:solidFill>
            </a:endParaRPr>
          </a:p>
        </p:txBody>
      </p:sp>
      <p:pic>
        <p:nvPicPr>
          <p:cNvPr id="39" name="Picture 38" descr="A black and green circle with a star in it&#10;&#10;AI-generated content may be incorrect.">
            <a:extLst>
              <a:ext uri="{FF2B5EF4-FFF2-40B4-BE49-F238E27FC236}">
                <a16:creationId xmlns:a16="http://schemas.microsoft.com/office/drawing/2014/main" id="{9E7C4384-AE27-F84D-4664-4EFDA69EBFC8}"/>
              </a:ext>
            </a:extLst>
          </p:cNvPr>
          <p:cNvPicPr>
            <a:picLocks noChangeAspect="1"/>
          </p:cNvPicPr>
          <p:nvPr/>
        </p:nvPicPr>
        <p:blipFill>
          <a:blip r:embed="rId2"/>
          <a:stretch>
            <a:fillRect/>
          </a:stretch>
        </p:blipFill>
        <p:spPr>
          <a:xfrm>
            <a:off x="11446563" y="242957"/>
            <a:ext cx="408610" cy="386523"/>
          </a:xfrm>
          <a:prstGeom prst="rect">
            <a:avLst/>
          </a:prstGeom>
        </p:spPr>
      </p:pic>
      <p:pic>
        <p:nvPicPr>
          <p:cNvPr id="41" name="Picture 40" descr="A green line with a white circle and a white line in the middle&#10;&#10;AI-generated content may be incorrect.">
            <a:extLst>
              <a:ext uri="{FF2B5EF4-FFF2-40B4-BE49-F238E27FC236}">
                <a16:creationId xmlns:a16="http://schemas.microsoft.com/office/drawing/2014/main" id="{565B91F7-AE73-4CBC-50C3-75263E94365A}"/>
              </a:ext>
            </a:extLst>
          </p:cNvPr>
          <p:cNvPicPr>
            <a:picLocks noChangeAspect="1"/>
          </p:cNvPicPr>
          <p:nvPr/>
        </p:nvPicPr>
        <p:blipFill>
          <a:blip r:embed="rId3"/>
          <a:stretch>
            <a:fillRect/>
          </a:stretch>
        </p:blipFill>
        <p:spPr>
          <a:xfrm>
            <a:off x="3214688" y="5776912"/>
            <a:ext cx="4953000" cy="971550"/>
          </a:xfrm>
          <a:prstGeom prst="rect">
            <a:avLst/>
          </a:prstGeom>
        </p:spPr>
      </p:pic>
    </p:spTree>
    <p:extLst>
      <p:ext uri="{BB962C8B-B14F-4D97-AF65-F5344CB8AC3E}">
        <p14:creationId xmlns:p14="http://schemas.microsoft.com/office/powerpoint/2010/main" val="448236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4220" y="819646"/>
            <a:ext cx="3962896" cy="49530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3875"/>
              </a:lnSpc>
              <a:buNone/>
            </a:pPr>
            <a:r>
              <a:rPr lang="en-US" sz="3500" b="1">
                <a:solidFill>
                  <a:srgbClr val="00B050"/>
                </a:solidFill>
                <a:latin typeface="Aptos"/>
                <a:ea typeface="Comfortaa Bold"/>
                <a:cs typeface="Comfortaa Bold" pitchFamily="34" charset="-120"/>
              </a:rPr>
              <a:t>Summary</a:t>
            </a:r>
            <a:endParaRPr lang="en-US" sz="3500">
              <a:solidFill>
                <a:srgbClr val="00B050"/>
              </a:solidFill>
              <a:latin typeface="Aptos"/>
            </a:endParaRPr>
          </a:p>
        </p:txBody>
      </p:sp>
      <p:sp>
        <p:nvSpPr>
          <p:cNvPr id="3" name="Text 1"/>
          <p:cNvSpPr/>
          <p:nvPr/>
        </p:nvSpPr>
        <p:spPr>
          <a:xfrm>
            <a:off x="2519462" y="1827014"/>
            <a:ext cx="1981398" cy="24765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r">
              <a:lnSpc>
                <a:spcPts val="1917"/>
              </a:lnSpc>
              <a:buNone/>
            </a:pPr>
            <a:r>
              <a:rPr lang="en-US" b="1">
                <a:solidFill>
                  <a:srgbClr val="00B050"/>
                </a:solidFill>
                <a:latin typeface="Aptos"/>
                <a:ea typeface="Comfortaa Bold"/>
                <a:cs typeface="Comfortaa Bold" pitchFamily="34" charset="-120"/>
              </a:rPr>
              <a:t>Project Goal</a:t>
            </a:r>
            <a:endParaRPr lang="en-US">
              <a:solidFill>
                <a:srgbClr val="00B050"/>
              </a:solidFill>
              <a:latin typeface="Aptos"/>
              <a:ea typeface="Comfortaa Bold"/>
            </a:endParaRPr>
          </a:p>
        </p:txBody>
      </p:sp>
      <p:sp>
        <p:nvSpPr>
          <p:cNvPr id="4" name="Text 2"/>
          <p:cNvSpPr/>
          <p:nvPr/>
        </p:nvSpPr>
        <p:spPr>
          <a:xfrm>
            <a:off x="734219" y="2181622"/>
            <a:ext cx="3766642" cy="85576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r">
              <a:lnSpc>
                <a:spcPts val="2208"/>
              </a:lnSpc>
              <a:buNone/>
            </a:pPr>
            <a:r>
              <a:rPr lang="en-US" sz="1375">
                <a:solidFill>
                  <a:srgbClr val="D7D4CC"/>
                </a:solidFill>
                <a:latin typeface="Raleway Medium" pitchFamily="34" charset="0"/>
                <a:ea typeface="Raleway Medium" pitchFamily="34" charset="-122"/>
                <a:cs typeface="Raleway Medium" pitchFamily="34" charset="-120"/>
              </a:rPr>
              <a:t>Understand which audio modalities best predict song aesthetics across multiple perceptual dimensions.</a:t>
            </a:r>
            <a:endParaRPr lang="en-US" sz="1375"/>
          </a:p>
        </p:txBody>
      </p:sp>
      <p:pic>
        <p:nvPicPr>
          <p:cNvPr id="5" name="Image 0" descr="preencoded.png"/>
          <p:cNvPicPr>
            <a:picLocks noChangeAspect="1"/>
          </p:cNvPicPr>
          <p:nvPr/>
        </p:nvPicPr>
        <p:blipFill>
          <a:blip r:embed="rId3"/>
          <a:stretch>
            <a:fillRect/>
          </a:stretch>
        </p:blipFill>
        <p:spPr>
          <a:xfrm>
            <a:off x="4500860" y="1874243"/>
            <a:ext cx="3190181" cy="3190181"/>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5971" y="2861023"/>
            <a:ext cx="250726" cy="250726"/>
          </a:xfrm>
          <a:prstGeom prst="rect">
            <a:avLst/>
          </a:prstGeom>
        </p:spPr>
      </p:pic>
      <p:sp>
        <p:nvSpPr>
          <p:cNvPr id="7" name="Text 3"/>
          <p:cNvSpPr/>
          <p:nvPr/>
        </p:nvSpPr>
        <p:spPr>
          <a:xfrm>
            <a:off x="7691041" y="1671538"/>
            <a:ext cx="1981398" cy="24765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b="1">
                <a:solidFill>
                  <a:srgbClr val="00B050"/>
                </a:solidFill>
                <a:latin typeface="Aptos"/>
                <a:ea typeface="Comfortaa Bold"/>
                <a:cs typeface="Comfortaa Bold" pitchFamily="34" charset="-120"/>
              </a:rPr>
              <a:t>Dataset</a:t>
            </a:r>
            <a:endParaRPr lang="en-US">
              <a:solidFill>
                <a:srgbClr val="00B050"/>
              </a:solidFill>
              <a:latin typeface="Aptos"/>
              <a:ea typeface="Comfortaa Bold"/>
            </a:endParaRPr>
          </a:p>
        </p:txBody>
      </p:sp>
      <p:sp>
        <p:nvSpPr>
          <p:cNvPr id="8" name="Text 4"/>
          <p:cNvSpPr/>
          <p:nvPr/>
        </p:nvSpPr>
        <p:spPr>
          <a:xfrm>
            <a:off x="7691041" y="2026146"/>
            <a:ext cx="3766741" cy="57050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1375" err="1">
                <a:solidFill>
                  <a:srgbClr val="D7D4CC"/>
                </a:solidFill>
                <a:latin typeface="Raleway Medium" pitchFamily="34" charset="0"/>
                <a:ea typeface="Raleway Medium" pitchFamily="34" charset="-122"/>
                <a:cs typeface="Raleway Medium" pitchFamily="34" charset="-120"/>
              </a:rPr>
              <a:t>SongEval</a:t>
            </a:r>
            <a:r>
              <a:rPr lang="en-US" sz="1375">
                <a:solidFill>
                  <a:srgbClr val="D7D4CC"/>
                </a:solidFill>
                <a:latin typeface="Raleway Medium" pitchFamily="34" charset="0"/>
                <a:ea typeface="Raleway Medium" pitchFamily="34" charset="-122"/>
                <a:cs typeface="Raleway Medium" pitchFamily="34" charset="-120"/>
              </a:rPr>
              <a:t> with 2,399 songs rated on 5 aesthetic dimensions by expert annotators.</a:t>
            </a:r>
            <a:endParaRPr lang="en-US" sz="1375"/>
          </a:p>
        </p:txBody>
      </p:sp>
      <p:pic>
        <p:nvPicPr>
          <p:cNvPr id="9" name="Image 2" descr="preencoded.png"/>
          <p:cNvPicPr>
            <a:picLocks noChangeAspect="1"/>
          </p:cNvPicPr>
          <p:nvPr/>
        </p:nvPicPr>
        <p:blipFill>
          <a:blip r:embed="rId6"/>
          <a:stretch>
            <a:fillRect/>
          </a:stretch>
        </p:blipFill>
        <p:spPr>
          <a:xfrm>
            <a:off x="4500860" y="1874243"/>
            <a:ext cx="3190181" cy="3190181"/>
          </a:xfrm>
          <a:prstGeom prst="rect">
            <a:avLst/>
          </a:prstGeom>
        </p:spPr>
      </p:pic>
      <p:pic>
        <p:nvPicPr>
          <p:cNvPr id="1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24340" y="2562672"/>
            <a:ext cx="250726" cy="250726"/>
          </a:xfrm>
          <a:prstGeom prst="rect">
            <a:avLst/>
          </a:prstGeom>
        </p:spPr>
      </p:pic>
      <p:sp>
        <p:nvSpPr>
          <p:cNvPr id="11" name="Text 5"/>
          <p:cNvSpPr/>
          <p:nvPr/>
        </p:nvSpPr>
        <p:spPr>
          <a:xfrm>
            <a:off x="8047633" y="2864148"/>
            <a:ext cx="1981398" cy="24765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b="1">
                <a:solidFill>
                  <a:srgbClr val="00B050"/>
                </a:solidFill>
                <a:latin typeface="Aptos"/>
                <a:ea typeface="Comfortaa Bold"/>
                <a:cs typeface="Comfortaa Bold" pitchFamily="34" charset="-120"/>
              </a:rPr>
              <a:t>4-Step Approach</a:t>
            </a:r>
            <a:endParaRPr lang="en-US">
              <a:solidFill>
                <a:srgbClr val="00B050"/>
              </a:solidFill>
              <a:latin typeface="Aptos"/>
              <a:ea typeface="Comfortaa Bold"/>
            </a:endParaRPr>
          </a:p>
        </p:txBody>
      </p:sp>
      <p:sp>
        <p:nvSpPr>
          <p:cNvPr id="12" name="Text 6"/>
          <p:cNvSpPr/>
          <p:nvPr/>
        </p:nvSpPr>
        <p:spPr>
          <a:xfrm>
            <a:off x="8047633" y="3218756"/>
            <a:ext cx="3410148" cy="57050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2208"/>
              </a:lnSpc>
            </a:pPr>
            <a:r>
              <a:rPr lang="en-US" sz="1350" b="1">
                <a:solidFill>
                  <a:srgbClr val="D7D4CC"/>
                </a:solidFill>
                <a:ea typeface="+mn-lt"/>
                <a:cs typeface="+mn-lt"/>
              </a:rPr>
              <a:t>Separate</a:t>
            </a:r>
            <a:r>
              <a:rPr lang="en-US" sz="1350">
                <a:solidFill>
                  <a:srgbClr val="D7D4CC"/>
                </a:solidFill>
                <a:ea typeface="+mn-lt"/>
                <a:cs typeface="+mn-lt"/>
              </a:rPr>
              <a:t> audio, </a:t>
            </a:r>
            <a:r>
              <a:rPr lang="en-US" sz="1350" b="1">
                <a:solidFill>
                  <a:srgbClr val="D7D4CC"/>
                </a:solidFill>
                <a:ea typeface="+mn-lt"/>
                <a:cs typeface="+mn-lt"/>
              </a:rPr>
              <a:t>Extract</a:t>
            </a:r>
            <a:r>
              <a:rPr lang="en-US" sz="1350">
                <a:solidFill>
                  <a:srgbClr val="D7D4CC"/>
                </a:solidFill>
                <a:ea typeface="+mn-lt"/>
                <a:cs typeface="+mn-lt"/>
              </a:rPr>
              <a:t> features,  </a:t>
            </a:r>
            <a:r>
              <a:rPr lang="en-US" sz="1350" b="1">
                <a:solidFill>
                  <a:srgbClr val="D7D4CC"/>
                </a:solidFill>
                <a:ea typeface="+mn-lt"/>
                <a:cs typeface="+mn-lt"/>
              </a:rPr>
              <a:t>Fuse</a:t>
            </a:r>
            <a:r>
              <a:rPr lang="en-US" sz="1350">
                <a:solidFill>
                  <a:srgbClr val="D7D4CC"/>
                </a:solidFill>
                <a:ea typeface="+mn-lt"/>
                <a:cs typeface="+mn-lt"/>
              </a:rPr>
              <a:t> features and  </a:t>
            </a:r>
            <a:r>
              <a:rPr lang="en-US" sz="1350" b="1">
                <a:solidFill>
                  <a:srgbClr val="D7D4CC"/>
                </a:solidFill>
                <a:ea typeface="+mn-lt"/>
                <a:cs typeface="+mn-lt"/>
              </a:rPr>
              <a:t>Predict</a:t>
            </a:r>
            <a:r>
              <a:rPr lang="en-US" sz="1350">
                <a:solidFill>
                  <a:srgbClr val="D7D4CC"/>
                </a:solidFill>
                <a:ea typeface="+mn-lt"/>
                <a:cs typeface="+mn-lt"/>
              </a:rPr>
              <a:t> aesthetics.</a:t>
            </a:r>
            <a:endParaRPr lang="en-US" sz="1350">
              <a:ea typeface="+mn-lt"/>
              <a:cs typeface="+mn-lt"/>
            </a:endParaRPr>
          </a:p>
        </p:txBody>
      </p:sp>
      <p:pic>
        <p:nvPicPr>
          <p:cNvPr id="13" name="Image 4" descr="preencoded.png"/>
          <p:cNvPicPr>
            <a:picLocks noChangeAspect="1"/>
          </p:cNvPicPr>
          <p:nvPr/>
        </p:nvPicPr>
        <p:blipFill>
          <a:blip r:embed="rId9"/>
          <a:stretch>
            <a:fillRect/>
          </a:stretch>
        </p:blipFill>
        <p:spPr>
          <a:xfrm>
            <a:off x="4500860" y="1874243"/>
            <a:ext cx="3190181" cy="3190181"/>
          </a:xfrm>
          <a:prstGeom prst="rect">
            <a:avLst/>
          </a:prstGeom>
        </p:spPr>
      </p:pic>
      <p:pic>
        <p:nvPicPr>
          <p:cNvPr id="14"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791970" y="3343920"/>
            <a:ext cx="250726" cy="250726"/>
          </a:xfrm>
          <a:prstGeom prst="rect">
            <a:avLst/>
          </a:prstGeom>
        </p:spPr>
      </p:pic>
      <p:sp>
        <p:nvSpPr>
          <p:cNvPr id="15" name="Text 7"/>
          <p:cNvSpPr/>
          <p:nvPr/>
        </p:nvSpPr>
        <p:spPr>
          <a:xfrm>
            <a:off x="7691041" y="4056757"/>
            <a:ext cx="1981398" cy="24765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b="1">
                <a:solidFill>
                  <a:srgbClr val="00B050"/>
                </a:solidFill>
                <a:latin typeface="Aptos"/>
                <a:ea typeface="Comfortaa Bold"/>
                <a:cs typeface="Comfortaa Bold" pitchFamily="34" charset="-120"/>
              </a:rPr>
              <a:t>Key Contribution</a:t>
            </a:r>
            <a:endParaRPr lang="en-US">
              <a:solidFill>
                <a:srgbClr val="00B050"/>
              </a:solidFill>
              <a:latin typeface="Aptos"/>
              <a:ea typeface="Comfortaa Bold"/>
            </a:endParaRPr>
          </a:p>
        </p:txBody>
      </p:sp>
      <p:sp>
        <p:nvSpPr>
          <p:cNvPr id="16" name="Text 8"/>
          <p:cNvSpPr/>
          <p:nvPr/>
        </p:nvSpPr>
        <p:spPr>
          <a:xfrm>
            <a:off x="7691041" y="4411365"/>
            <a:ext cx="3766741" cy="85576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1375">
                <a:solidFill>
                  <a:srgbClr val="D7D4CC"/>
                </a:solidFill>
                <a:latin typeface="Raleway Medium" pitchFamily="34" charset="0"/>
                <a:ea typeface="Raleway Medium" pitchFamily="34" charset="-122"/>
                <a:cs typeface="Raleway Medium" pitchFamily="34" charset="-120"/>
              </a:rPr>
              <a:t>A comprehensive multimodal audio processing framework for perceptual quality assessment.</a:t>
            </a:r>
            <a:endParaRPr lang="en-US" sz="1375"/>
          </a:p>
        </p:txBody>
      </p:sp>
      <p:pic>
        <p:nvPicPr>
          <p:cNvPr id="17" name="Image 6" descr="preencoded.png"/>
          <p:cNvPicPr>
            <a:picLocks noChangeAspect="1"/>
          </p:cNvPicPr>
          <p:nvPr/>
        </p:nvPicPr>
        <p:blipFill>
          <a:blip r:embed="rId12"/>
          <a:stretch>
            <a:fillRect/>
          </a:stretch>
        </p:blipFill>
        <p:spPr>
          <a:xfrm>
            <a:off x="4500860" y="1874243"/>
            <a:ext cx="3190181" cy="3190181"/>
          </a:xfrm>
          <a:prstGeom prst="rect">
            <a:avLst/>
          </a:prstGeom>
        </p:spPr>
      </p:pic>
      <p:pic>
        <p:nvPicPr>
          <p:cNvPr id="18"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24340" y="4125169"/>
            <a:ext cx="250726" cy="250726"/>
          </a:xfrm>
          <a:prstGeom prst="rect">
            <a:avLst/>
          </a:prstGeom>
        </p:spPr>
      </p:pic>
      <p:sp>
        <p:nvSpPr>
          <p:cNvPr id="19" name="Text 9"/>
          <p:cNvSpPr/>
          <p:nvPr/>
        </p:nvSpPr>
        <p:spPr>
          <a:xfrm>
            <a:off x="2519462" y="3758605"/>
            <a:ext cx="1981398" cy="24765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r">
              <a:lnSpc>
                <a:spcPts val="1917"/>
              </a:lnSpc>
              <a:buNone/>
            </a:pPr>
            <a:r>
              <a:rPr lang="en-US" b="1">
                <a:solidFill>
                  <a:srgbClr val="00B050"/>
                </a:solidFill>
                <a:latin typeface="Aptos"/>
                <a:ea typeface="Comfortaa Bold"/>
                <a:cs typeface="Comfortaa Bold" pitchFamily="34" charset="-120"/>
              </a:rPr>
              <a:t>Impact</a:t>
            </a:r>
            <a:endParaRPr lang="en-US">
              <a:solidFill>
                <a:srgbClr val="00B050"/>
              </a:solidFill>
              <a:latin typeface="Aptos"/>
              <a:ea typeface="Comfortaa Bold"/>
            </a:endParaRPr>
          </a:p>
        </p:txBody>
      </p:sp>
      <p:sp>
        <p:nvSpPr>
          <p:cNvPr id="20" name="Text 10"/>
          <p:cNvSpPr/>
          <p:nvPr/>
        </p:nvSpPr>
        <p:spPr>
          <a:xfrm>
            <a:off x="734219" y="4113212"/>
            <a:ext cx="3766642" cy="85576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r">
              <a:lnSpc>
                <a:spcPts val="2208"/>
              </a:lnSpc>
              <a:buNone/>
            </a:pPr>
            <a:r>
              <a:rPr lang="en-US" sz="1375">
                <a:solidFill>
                  <a:srgbClr val="D7D4CC"/>
                </a:solidFill>
                <a:latin typeface="Raleway Medium" pitchFamily="34" charset="0"/>
                <a:ea typeface="Raleway Medium" pitchFamily="34" charset="-122"/>
                <a:cs typeface="Raleway Medium" pitchFamily="34" charset="-120"/>
              </a:rPr>
              <a:t>Enabling scalable, objective music quality evaluation for AI-generated and human-composed music alike.</a:t>
            </a:r>
            <a:endParaRPr lang="en-US" sz="1375"/>
          </a:p>
        </p:txBody>
      </p:sp>
      <p:pic>
        <p:nvPicPr>
          <p:cNvPr id="21" name="Image 8" descr="preencoded.png"/>
          <p:cNvPicPr>
            <a:picLocks noChangeAspect="1"/>
          </p:cNvPicPr>
          <p:nvPr/>
        </p:nvPicPr>
        <p:blipFill>
          <a:blip r:embed="rId15"/>
          <a:stretch>
            <a:fillRect/>
          </a:stretch>
        </p:blipFill>
        <p:spPr>
          <a:xfrm>
            <a:off x="4500860" y="1874243"/>
            <a:ext cx="3190181" cy="3190181"/>
          </a:xfrm>
          <a:prstGeom prst="rect">
            <a:avLst/>
          </a:prstGeom>
        </p:spPr>
      </p:pic>
      <p:pic>
        <p:nvPicPr>
          <p:cNvPr id="22" name="Image 9"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305971" y="3826818"/>
            <a:ext cx="250726" cy="250726"/>
          </a:xfrm>
          <a:prstGeom prst="rect">
            <a:avLst/>
          </a:prstGeom>
        </p:spPr>
      </p:pic>
      <p:sp>
        <p:nvSpPr>
          <p:cNvPr id="23" name="Text 11"/>
          <p:cNvSpPr/>
          <p:nvPr/>
        </p:nvSpPr>
        <p:spPr>
          <a:xfrm>
            <a:off x="734219" y="6103000"/>
            <a:ext cx="10723563" cy="57050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2208"/>
              </a:lnSpc>
              <a:buNone/>
            </a:pPr>
            <a:r>
              <a:rPr lang="en-US" sz="1800" u="sng" err="1">
                <a:solidFill>
                  <a:schemeClr val="bg1"/>
                </a:solidFill>
                <a:latin typeface="Aptos"/>
                <a:ea typeface="Raleway Medium" pitchFamily="34" charset="-122"/>
                <a:cs typeface="Raleway Medium" pitchFamily="34" charset="-120"/>
              </a:rPr>
              <a:t>AesthEval</a:t>
            </a:r>
            <a:r>
              <a:rPr lang="en-US" sz="1800">
                <a:solidFill>
                  <a:schemeClr val="bg1"/>
                </a:solidFill>
                <a:latin typeface="Aptos"/>
                <a:ea typeface="Raleway Medium" pitchFamily="34" charset="-122"/>
                <a:cs typeface="Raleway Medium" pitchFamily="34" charset="-120"/>
              </a:rPr>
              <a:t> </a:t>
            </a:r>
            <a:r>
              <a:rPr lang="en-US" sz="1800">
                <a:solidFill>
                  <a:schemeClr val="bg1"/>
                </a:solidFill>
                <a:ea typeface="+mn-lt"/>
                <a:cs typeface="+mn-lt"/>
              </a:rPr>
              <a:t>provides insights into what makes music sound good.</a:t>
            </a:r>
          </a:p>
        </p:txBody>
      </p:sp>
      <p:sp>
        <p:nvSpPr>
          <p:cNvPr id="25" name="Rectangle 24">
            <a:extLst>
              <a:ext uri="{FF2B5EF4-FFF2-40B4-BE49-F238E27FC236}">
                <a16:creationId xmlns:a16="http://schemas.microsoft.com/office/drawing/2014/main" id="{99A7700D-339A-6907-2980-D64504551528}"/>
              </a:ext>
            </a:extLst>
          </p:cNvPr>
          <p:cNvSpPr/>
          <p:nvPr/>
        </p:nvSpPr>
        <p:spPr>
          <a:xfrm>
            <a:off x="10637721" y="6388688"/>
            <a:ext cx="1463443" cy="373430"/>
          </a:xfrm>
          <a:prstGeom prst="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A black and green circle with a star in it&#10;&#10;AI-generated content may be incorrect.">
            <a:extLst>
              <a:ext uri="{FF2B5EF4-FFF2-40B4-BE49-F238E27FC236}">
                <a16:creationId xmlns:a16="http://schemas.microsoft.com/office/drawing/2014/main" id="{B661A1D8-21D4-110D-46E9-758CB4905347}"/>
              </a:ext>
            </a:extLst>
          </p:cNvPr>
          <p:cNvPicPr>
            <a:picLocks noChangeAspect="1"/>
          </p:cNvPicPr>
          <p:nvPr/>
        </p:nvPicPr>
        <p:blipFill>
          <a:blip r:embed="rId18"/>
          <a:stretch>
            <a:fillRect/>
          </a:stretch>
        </p:blipFill>
        <p:spPr>
          <a:xfrm>
            <a:off x="11446563" y="242957"/>
            <a:ext cx="408610" cy="386523"/>
          </a:xfrm>
          <a:prstGeom prst="rect">
            <a:avLst/>
          </a:prstGeom>
        </p:spPr>
      </p:pic>
      <p:pic>
        <p:nvPicPr>
          <p:cNvPr id="38" name="Picture 37" descr="A black background with green text&#10;&#10;AI-generated content may be incorrect.">
            <a:extLst>
              <a:ext uri="{FF2B5EF4-FFF2-40B4-BE49-F238E27FC236}">
                <a16:creationId xmlns:a16="http://schemas.microsoft.com/office/drawing/2014/main" id="{95B2800B-5156-EEB0-DB05-C95A3517255E}"/>
              </a:ext>
            </a:extLst>
          </p:cNvPr>
          <p:cNvPicPr>
            <a:picLocks noChangeAspect="1"/>
          </p:cNvPicPr>
          <p:nvPr/>
        </p:nvPicPr>
        <p:blipFill>
          <a:blip r:embed="rId19"/>
          <a:stretch>
            <a:fillRect/>
          </a:stretch>
        </p:blipFill>
        <p:spPr>
          <a:xfrm>
            <a:off x="5046" y="1419"/>
            <a:ext cx="12186954" cy="68551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4" name="Picture 23" descr="A green line on a black surface&#10;&#10;AI-generated content may be incorrect.">
            <a:extLst>
              <a:ext uri="{FF2B5EF4-FFF2-40B4-BE49-F238E27FC236}">
                <a16:creationId xmlns:a16="http://schemas.microsoft.com/office/drawing/2014/main" id="{93F4E99E-7531-D4D4-7696-5D5A2375ACFA}"/>
              </a:ext>
            </a:extLst>
          </p:cNvPr>
          <p:cNvPicPr>
            <a:picLocks noChangeAspect="1"/>
          </p:cNvPicPr>
          <p:nvPr/>
        </p:nvPicPr>
        <p:blipFill>
          <a:blip r:embed="rId20"/>
          <a:stretch>
            <a:fillRect/>
          </a:stretch>
        </p:blipFill>
        <p:spPr>
          <a:xfrm>
            <a:off x="3178969" y="5662613"/>
            <a:ext cx="5143500" cy="1104900"/>
          </a:xfrm>
          <a:prstGeom prst="rect">
            <a:avLst/>
          </a:prstGeom>
        </p:spPr>
      </p:pic>
    </p:spTree>
    <p:extLst>
      <p:ext uri="{BB962C8B-B14F-4D97-AF65-F5344CB8AC3E}">
        <p14:creationId xmlns:p14="http://schemas.microsoft.com/office/powerpoint/2010/main" val="33510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BA7E98-EB46-DE63-E89E-20BBDB016E8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57798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e39ef0c-2a1d-40ab-ba73-d00b5b9c983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B935B966FE389418688347F2A3AE1D0" ma:contentTypeVersion="6" ma:contentTypeDescription="Create a new document." ma:contentTypeScope="" ma:versionID="98d1b85fb562618b0cf6d523521c3f90">
  <xsd:schema xmlns:xsd="http://www.w3.org/2001/XMLSchema" xmlns:xs="http://www.w3.org/2001/XMLSchema" xmlns:p="http://schemas.microsoft.com/office/2006/metadata/properties" xmlns:ns3="3e39ef0c-2a1d-40ab-ba73-d00b5b9c9832" targetNamespace="http://schemas.microsoft.com/office/2006/metadata/properties" ma:root="true" ma:fieldsID="99f4c7b93919262600c07a9afe4e1222" ns3:_="">
    <xsd:import namespace="3e39ef0c-2a1d-40ab-ba73-d00b5b9c9832"/>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DateTaken" minOccurs="0"/>
                <xsd:element ref="ns3:_activity"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39ef0c-2a1d-40ab-ba73-d00b5b9c98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E631FDE-B60F-450A-A99A-745670B30EC3}">
  <ds:schemaRefs>
    <ds:schemaRef ds:uri="3e39ef0c-2a1d-40ab-ba73-d00b5b9c983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578CCEA-AF89-475F-9A48-61A532FBB993}">
  <ds:schemaRefs>
    <ds:schemaRef ds:uri="http://schemas.microsoft.com/sharepoint/v3/contenttype/forms"/>
  </ds:schemaRefs>
</ds:datastoreItem>
</file>

<file path=customXml/itemProps3.xml><?xml version="1.0" encoding="utf-8"?>
<ds:datastoreItem xmlns:ds="http://schemas.openxmlformats.org/officeDocument/2006/customXml" ds:itemID="{9389A0A6-6670-44D6-A5CB-5E81100C9F7A}">
  <ds:schemaRefs>
    <ds:schemaRef ds:uri="3e39ef0c-2a1d-40ab-ba73-d00b5b9c983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11</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SHOURYA GOYAL</dc:creator>
  <cp:revision>124</cp:revision>
  <dcterms:created xsi:type="dcterms:W3CDTF">2025-11-05T08:39:42Z</dcterms:created>
  <dcterms:modified xsi:type="dcterms:W3CDTF">2025-11-06T04:18:18Z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0x010100EB935B966FE389418688347F2A3AE1D0</vt:lpwstr>
  </property>
</Properties>
</file>